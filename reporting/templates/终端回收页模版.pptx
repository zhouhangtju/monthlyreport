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8441" r:id="rId3"/>
    <p:sldId id="8442" r:id="rId5"/>
    <p:sldId id="8443" r:id="rId6"/>
  </p:sldIdLst>
  <p:sldSz cx="12192000" cy="6858000"/>
  <p:notesSz cx="6797675" cy="992632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  <p15:guide id="3" orient="horz" pos="3208" userDrawn="1">
          <p15:clr>
            <a:srgbClr val="A4A3A4"/>
          </p15:clr>
        </p15:guide>
        <p15:guide id="4" pos="27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e" initials="l" lastIdx="1" clrIdx="0"/>
  <p:cmAuthor id="317" name="未知用户80" initials="" lastIdx="1" clrIdx="0"/>
  <p:cmAuthor id="1" name="lenovo" initials="l" lastIdx="2" clrIdx="0"/>
  <p:cmAuthor id="318" name="Harry xu" initials="" lastIdx="1" clrIdx="0"/>
  <p:cmAuthor id="2" name="王珂" initials="王" lastIdx="1" clrIdx="1"/>
  <p:cmAuthor id="3" name="许贝旎" initials="许" lastIdx="2" clrIdx="2"/>
  <p:cmAuthor id="320" name="未知用户35" initials="未" lastIdx="1" clrIdx="0"/>
  <p:cmAuthor id="4" name="刘家玮" initials="刘" lastIdx="1" clrIdx="3"/>
  <p:cmAuthor id="321" name="未知用户111" initials="未" lastIdx="1" clrIdx="1"/>
  <p:cmAuthor id="5" name="xuruoyun" initials="x" lastIdx="1" clrIdx="4"/>
  <p:cmAuthor id="322" name="le" initials="l" lastIdx="2" clrIdx="321"/>
  <p:cmAuthor id="6" name="莫霄雁" initials="" lastIdx="2" clrIdx="0"/>
  <p:cmAuthor id="7" name="23" initials="2" lastIdx="1" clrIdx="6"/>
  <p:cmAuthor id="8" name="Steve Thorne" initials="S" lastIdx="2" clrIdx="4"/>
  <p:cmAuthor id="9" name="yuanzhu" initials="y" lastIdx="1" clrIdx="8"/>
  <p:cmAuthor id="10" name="张 少峰" initials="张" lastIdx="1" clrIdx="7"/>
  <p:cmAuthor id="11" name="朱磊" initials="朱" lastIdx="2" clrIdx="10"/>
  <p:cmAuthor id="12" name="15520" initials="1" lastIdx="7" clrIdx="11"/>
  <p:cmAuthor id="13" name="杨国" initials="杨" lastIdx="3" clrIdx="0"/>
  <p:cmAuthor id="330" name="KZY" initials="K" lastIdx="1" clrIdx="329"/>
  <p:cmAuthor id="14" name="lixiaolong3@sx.cmcc" initials="l" lastIdx="12" clrIdx="13"/>
  <p:cmAuthor id="15" name="13686" initials="1" lastIdx="1" clrIdx="14"/>
  <p:cmAuthor id="16" name="周辉" initials="周" lastIdx="1" clrIdx="15"/>
  <p:cmAuthor id="17" name="俞悦|yuyue9" initials="俞悦" lastIdx="1" clrIdx="16"/>
  <p:cmAuthor id="18" name="sx_xuzx" initials="s" lastIdx="26" clrIdx="17"/>
  <p:cmAuthor id="19" name="tplife" initials="t" lastIdx="2" clrIdx="0"/>
  <p:cmAuthor id="20" name="孟 昕" initials="孟" lastIdx="1" clrIdx="18"/>
  <p:cmAuthor id="21" name="吕扬杰|lvyangjie" initials="吕扬杰" lastIdx="2" clrIdx="20"/>
  <p:cmAuthor id="22" name="蔡建楠" initials="caijianna" lastIdx="15" clrIdx="17"/>
  <p:cmAuthor id="23" name="10009110" initials="1" lastIdx="23" clrIdx="22"/>
  <p:cmAuthor id="24" name="cmcc" initials="c" lastIdx="5" clrIdx="23"/>
  <p:cmAuthor id="25" name="zhenghangsong" initials="z" lastIdx="1" clrIdx="24"/>
  <p:cmAuthor id="26" name="10270945" initials="1" lastIdx="2" clrIdx="25"/>
  <p:cmAuthor id="27" name="zrf" initials="zrf" lastIdx="3" clrIdx="26"/>
  <p:cmAuthor id="28" name="Hou Yingfeng" initials="H" lastIdx="10" clrIdx="23"/>
  <p:cmAuthor id="29" name="王平聪|tzwpc" initials="王平聪" lastIdx="1" clrIdx="28"/>
  <p:cmAuthor id="30" name="10056791" initials="ZTE" lastIdx="1" clrIdx="29"/>
  <p:cmAuthor id="31" name="Author" initials="A" lastIdx="0" clrIdx="30"/>
  <p:cmAuthor id="32" name="Qlstc" initials="Q" lastIdx="1" clrIdx="31"/>
  <p:cmAuthor id="33" name="泾伦" initials="泾伦" lastIdx="1" clrIdx="32"/>
  <p:cmAuthor id="34" name="Y Y" initials="YY" lastIdx="2" clrIdx="33"/>
  <p:cmAuthor id="35" name="Caixiaojin" initials="C" lastIdx="1" clrIdx="34"/>
  <p:cmAuthor id="36" name="Microsoft 帐户" initials="M帐" lastIdx="6" clrIdx="36"/>
  <p:cmAuthor id="37" name="gulib" initials="g" lastIdx="2" clrIdx="36"/>
  <p:cmAuthor id="38" name="赵欣" initials="zx" lastIdx="4" clrIdx="37"/>
  <p:cmAuthor id="39" name="王健|qzwj" initials="王健" lastIdx="1" clrIdx="38"/>
  <p:cmAuthor id="40" name="李菁|lijing7" initials="李菁" lastIdx="2" clrIdx="39"/>
  <p:cmAuthor id="41" name="周玲宇|zhoulykf" initials="周玲宇" lastIdx="1" clrIdx="40"/>
  <p:cmAuthor id="42" name="hjl" initials="h" lastIdx="1" clrIdx="41"/>
  <p:cmAuthor id="43" name="Microsoft Office 用户" initials="MO用 [8] [6]" lastIdx="1" clrIdx="42"/>
  <p:cmAuthor id="44" name="leilinghong" initials="l" lastIdx="1" clrIdx="43"/>
  <p:cmAuthor id="45" name="赵琦" initials="赵" lastIdx="4" clrIdx="1"/>
  <p:cmAuthor id="46" name="干田|gantian" initials="干田" lastIdx="1" clrIdx="45"/>
  <p:cmAuthor id="191251535" name="沈霄雷" initials="沈" lastIdx="833089" clrIdx="0"/>
  <p:cmAuthor id="47" name="番茄花园" initials="番" lastIdx="1" clrIdx="0"/>
  <p:cmAuthor id="48" name="kevin.huang" initials="k" lastIdx="3" clrIdx="47"/>
  <p:cmAuthor id="49" name="陆佳|lujia1" initials="陆佳" lastIdx="2" clrIdx="48"/>
  <p:cmAuthor id="50" name="dell" initials="d" lastIdx="1" clrIdx="4"/>
  <p:cmAuthor id="51" name="peter" initials="p" lastIdx="1" clrIdx="50"/>
  <p:cmAuthor id="52" name="何已龙" initials="何" lastIdx="2" clrIdx="2"/>
  <p:cmAuthor id="53" name="shiheyun@zj.cmcc" initials="shiheyun@zj.cmcc" lastIdx="1" clrIdx="52"/>
  <p:cmAuthor id="54" name="未知用户6" initials="未" lastIdx="1" clrIdx="0"/>
  <p:cmAuthor id="55" name="未知用户8" initials="未" lastIdx="1" clrIdx="0"/>
  <p:cmAuthor id="56" name="Cmit" initials="C" lastIdx="1" clrIdx="55"/>
  <p:cmAuthor id="57" name="未知用户9" initials="未" lastIdx="1" clrIdx="0"/>
  <p:cmAuthor id="58" name="未知用户17" initials="未" lastIdx="1" clrIdx="1"/>
  <p:cmAuthor id="59" name="未知用户18" initials="未" lastIdx="1" clrIdx="0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xmyn" initials="x" lastIdx="1" clrIdx="64"/>
  <p:cmAuthor id="66" name="郝崇" initials="郝" lastIdx="4" clrIdx="1"/>
  <p:cmAuthor id="67" name="吴杰" initials="吴" lastIdx="1" clrIdx="0"/>
  <p:cmAuthor id="68" name="刘丽仙" initials="刘" lastIdx="4" clrIdx="33"/>
  <p:cmAuthor id="69" name="罗彬" initials="罗" lastIdx="1" clrIdx="0"/>
  <p:cmAuthor id="70" name="杨艳霞" initials="杨" lastIdx="34" clrIdx="1"/>
  <p:cmAuthor id="71" name="未知的使用者42" initials="" lastIdx="1" clrIdx="0"/>
  <p:cmAuthor id="72" name="未定义" initials="未" lastIdx="1" clrIdx="1"/>
  <p:cmAuthor id="73" name="rq fan" initials="r" lastIdx="3" clrIdx="1"/>
  <p:cmAuthor id="74" name="dingbo" initials="d" lastIdx="1" clrIdx="0"/>
  <p:cmAuthor id="75" name="李永欣" initials="李" lastIdx="1" clrIdx="0"/>
  <p:cmAuthor id="76" name="齐 Mandy" initials="齐" lastIdx="1" clrIdx="25"/>
  <p:cmAuthor id="77" name="w x" initials="wx" lastIdx="2" clrIdx="26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353158055" name="韩雨" initials="韩" lastIdx="0" clrIdx="0"/>
  <p:cmAuthor id="85" name="陈尚文" initials="陈" lastIdx="1" clrIdx="1"/>
  <p:cmAuthor id="86" name="张宏伟" initials="张" lastIdx="46" clrIdx="0"/>
  <p:cmAuthor id="87" name="Yuan Hu" initials="Y" lastIdx="1" clrIdx="0"/>
  <p:cmAuthor id="394525608" name="仇怿俊" initials="仇" lastIdx="0" clrIdx="0"/>
  <p:cmAuthor id="88" name="Pei" initials="P" lastIdx="0" clrIdx="1"/>
  <p:cmAuthor id="394525609" name="Jimmy-Power" initials="J" lastIdx="1" clrIdx="43"/>
  <p:cmAuthor id="89" name="Ying Li" initials="Y" lastIdx="1" clrIdx="2"/>
  <p:cmAuthor id="394525610" name="罗 罗" initials="罗" lastIdx="1" clrIdx="37"/>
  <p:cmAuthor id="90" name="李威" initials="李" lastIdx="1" clrIdx="3"/>
  <p:cmAuthor id="91" name="范作霖" initials="范" lastIdx="1" clrIdx="22"/>
  <p:cmAuthor id="92" name="李百秋" initials="李" lastIdx="3" clrIdx="21"/>
  <p:cmAuthor id="93" name="张立鑫" initials="张" lastIdx="1" clrIdx="23"/>
  <p:cmAuthor id="94" name="杨静" initials="杨" lastIdx="1" clrIdx="22"/>
  <p:cmAuthor id="95" name="包珊珊" initials="包" lastIdx="7" clrIdx="23"/>
  <p:cmAuthor id="96" name="YuQing" initials="Y" lastIdx="9" clrIdx="0"/>
  <p:cmAuthor id="97" name="Youwen Sun" initials="Y" lastIdx="3" clrIdx="1"/>
  <p:cmAuthor id="2000" name="黄通东_MbQvnUvu" initials="authorId_424725045" lastIdx="2492549" clrIdx="0"/>
  <p:cmAuthor id="99" name="�ǲ�����" initials="�" lastIdx="1" clrIdx="35"/>
  <p:cmAuthor id="2001" name="王伟栋_ymIjy2uI" initials="authorId_1008746-10055544" lastIdx="0" clrIdx="0"/>
  <p:cmAuthor id="100" name="牛宏民" initials="牛" lastIdx="2" clrIdx="0"/>
  <p:cmAuthor id="287643681" name="殷格非" initials="殷" lastIdx="2" clrIdx="0"/>
  <p:cmAuthor id="2002" name="金宇峰_BfyebuM3" initials="authorId_1008746-10054633" lastIdx="0" clrIdx="0"/>
  <p:cmAuthor id="101" name="CHN0012081" initials="C" lastIdx="7" clrIdx="0"/>
  <p:cmAuthor id="287643682" name="z r" initials="zr" lastIdx="5" clrIdx="12"/>
  <p:cmAuthor id="102" name="毛香勤" initials="毛" lastIdx="26" clrIdx="6"/>
  <p:cmAuthor id="287643683" name="吕苗峰|lumf" initials="吕苗峰" lastIdx="1" clrIdx="16"/>
  <p:cmAuthor id="103" name="dadi" initials="d" lastIdx="2" clrIdx="1"/>
  <p:cmAuthor id="287643684" name="H H" initials="HH" lastIdx="3" clrIdx="43"/>
  <p:cmAuthor id="104" name="郑廷东" initials="郑" lastIdx="25" clrIdx="0"/>
  <p:cmAuthor id="287643685" name="苏志博_zUFrqQ3Q" initials="authorId_456263772" lastIdx="0" clrIdx="0"/>
  <p:cmAuthor id="105" name="张田田" initials="张" lastIdx="23" clrIdx="2"/>
  <p:cmAuthor id="287643686" name="夜尽迟渊_UrQfrmQZ" initials="authorId_501680251" lastIdx="0" clrIdx="0"/>
  <p:cmAuthor id="106" name="杨彦伟" initials="杨" lastIdx="3" clrIdx="0"/>
  <p:cmAuthor id="287643687" name="王丰_aE3uARfm" initials="authorId_383357774" lastIdx="0" clrIdx="0"/>
  <p:cmAuthor id="107" name="徐光宇" initials="徐" lastIdx="1" clrIdx="0"/>
  <p:cmAuthor id="287643688" name="方少_UbQfrimU" initials="authorId_442114952" lastIdx="0" clrIdx="0"/>
  <p:cmAuthor id="108" name="mac" initials="m" lastIdx="1" clrIdx="0"/>
  <p:cmAuthor id="287643689" name="叶盛_Q3A3IfEf" initials="authorId_506280334" lastIdx="0" clrIdx="0"/>
  <p:cmAuthor id="109" name="刘豹" initials="刘" lastIdx="0" clrIdx="0"/>
  <p:cmAuthor id="287643690" name="Harley._bEJrUJ7r" initials="authorId_432156705" lastIdx="0" clrIdx="0"/>
  <p:cmAuthor id="110" name="张艳芳" initials="张" lastIdx="3" clrIdx="0"/>
  <p:cmAuthor id="287643691" name="罗平_VB7vJb2E" initials="authorId_305049361" lastIdx="0" clrIdx="0"/>
  <p:cmAuthor id="111" name="王志刚" initials="王" lastIdx="1" clrIdx="0"/>
  <p:cmAuthor id="287643692" name="xixi_nUjqe22E" initials="authorId_359229261" lastIdx="0" clrIdx="0"/>
  <p:cmAuthor id="112" name="孙大威" initials="孙" lastIdx="21" clrIdx="4"/>
  <p:cmAuthor id="287643693" name="安安_zm6nYnYZ" initials="authorId_347340296" lastIdx="0" clrIdx="0"/>
  <p:cmAuthor id="113" name="徐杰" initials="徐" lastIdx="1" clrIdx="0"/>
  <p:cmAuthor id="114" name="席美娟" initials="席" lastIdx="4" clrIdx="1"/>
  <p:cmAuthor id="287643696" name="周君_MfIffYra" initials="authorId_375419134" lastIdx="0" clrIdx="0"/>
  <p:cmAuthor id="115" name="朱海平" initials="朱" lastIdx="1" clrIdx="16"/>
  <p:cmAuthor id="116" name="王景红" initials="王" lastIdx="6" clrIdx="3"/>
  <p:cmAuthor id="117" name="席金煜" initials="席" lastIdx="42" clrIdx="4"/>
  <p:cmAuthor id="118" name="樊佳佳" initials="樊" lastIdx="59" clrIdx="5"/>
  <p:cmAuthor id="119" name="fgx" initials="f" lastIdx="6" clrIdx="6"/>
  <p:cmAuthor id="120" name="郑汝鸿" initials="郑" lastIdx="2" clrIdx="0"/>
  <p:cmAuthor id="121" name="杨秀丰" initials="杨" lastIdx="62" clrIdx="2"/>
  <p:cmAuthor id="122" name="惠莲" initials="惠" lastIdx="37" clrIdx="4"/>
  <p:cmAuthor id="123" name="邢辰凤" initials="邢" lastIdx="45" clrIdx="7"/>
  <p:cmAuthor id="124" name="liang ma" initials="l" lastIdx="1" clrIdx="35"/>
  <p:cmAuthor id="125" name="高永刚" initials="高" lastIdx="2" clrIdx="36"/>
  <p:cmAuthor id="126" name="未知用户46" initials="未" lastIdx="1" clrIdx="1"/>
  <p:cmAuthor id="127" name="未知用户47" initials="未" lastIdx="1" clrIdx="0"/>
  <p:cmAuthor id="128" name="未知用户42" initials="未" lastIdx="2" clrIdx="2"/>
  <p:cmAuthor id="129" name="未知用户43" initials="未" lastIdx="1" clrIdx="0"/>
  <p:cmAuthor id="130" name="未知用户48" initials="未" lastIdx="34" clrIdx="0"/>
  <p:cmAuthor id="131" name="未知用户49" initials="未" lastIdx="10" clrIdx="0"/>
  <p:cmAuthor id="132" name="未知用户50" initials="未" lastIdx="4" clrIdx="0"/>
  <p:cmAuthor id="133" name="未知用户51" initials="未" lastIdx="1" clrIdx="0"/>
  <p:cmAuthor id="134" name="未知用户52" initials="未" lastIdx="10" clrIdx="0"/>
  <p:cmAuthor id="135" name="未知用户53" initials="未" lastIdx="1" clrIdx="0"/>
  <p:cmAuthor id="136" name="未知用户54" initials="未" lastIdx="8" clrIdx="0"/>
  <p:cmAuthor id="137" name="未知用户55" initials="未" lastIdx="1" clrIdx="0"/>
  <p:cmAuthor id="138" name="未知用户56" initials="未" lastIdx="1" clrIdx="0"/>
  <p:cmAuthor id="139" name="未知用户57" initials="未" lastIdx="4" clrIdx="0"/>
  <p:cmAuthor id="47245819" name="群智集" initials="群" lastIdx="0" clrIdx="0"/>
  <p:cmAuthor id="140" name="未知用户58" initials="未" lastIdx="4" clrIdx="33"/>
  <p:cmAuthor id="47245820" name="郏 鹏" initials="郏" lastIdx="1" clrIdx="16"/>
  <p:cmAuthor id="141" name="未知用户59" initials="未" lastIdx="4" clrIdx="0"/>
  <p:cmAuthor id="47245821" name="郏鹏" initials="M" lastIdx="1" clrIdx="17"/>
  <p:cmAuthor id="142" name="光启" initials="光" lastIdx="1" clrIdx="0"/>
  <p:cmAuthor id="143" name="侯雪飞" initials="侯" lastIdx="2" clrIdx="0"/>
  <p:cmAuthor id="144" name="太海峰" initials="太" lastIdx="1" clrIdx="34"/>
  <p:cmAuthor id="145" name="hk z" initials="hz" lastIdx="1" clrIdx="37"/>
  <p:cmAuthor id="146" name="未知用户108" initials="" lastIdx="1" clrIdx="0"/>
  <p:cmAuthor id="147" name="吕姗" initials="吕" lastIdx="1" clrIdx="146"/>
  <p:cmAuthor id="148" name="linyd" initials="" lastIdx="3" clrIdx="1"/>
  <p:cmAuthor id="150" name="未知的使用者31" initials="" lastIdx="1" clrIdx="0"/>
  <p:cmAuthor id="151" name="未知用户81" initials="" lastIdx="1" clrIdx="0"/>
  <p:cmAuthor id="152" name="未知用户115" initials="" lastIdx="1" clrIdx="0"/>
  <p:cmAuthor id="154" name="未知的使用者68" initials="" lastIdx="1" clrIdx="0"/>
  <p:cmAuthor id="155" name="mm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691587970" name="小延魔法师" initials="小" lastIdx="1126286" clrIdx="0"/>
  <p:cmAuthor id="691587971" name="HP Inc." initials="HI" lastIdx="3" clrIdx="42"/>
  <p:cmAuthor id="167" name="未知用户106" initials="未" lastIdx="1" clrIdx="0"/>
  <p:cmAuthor id="691587972" name="admin" initials="a" lastIdx="1" clrIdx="43"/>
  <p:cmAuthor id="168" name="未知用户116" initials="" lastIdx="1" clrIdx="1"/>
  <p:cmAuthor id="691587973" name="18329053695@139.com" initials="1" lastIdx="1" clrIdx="99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5" name="唐可欣" initials="" lastIdx="1" clrIdx="0"/>
  <p:cmAuthor id="441412215" name="tonghailan" initials="t" lastIdx="1126972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4" name="未知的使用者14" initials="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1411827" name="黄晓平" initials="黄" lastIdx="0" clrIdx="0"/>
  <p:cmAuthor id="226" name="qihua-DCMS" initials="" lastIdx="0" clrIdx="0"/>
  <p:cmAuthor id="1411828" name="徐琳00159163" initials="徐琳00159163" lastIdx="1" clrIdx="37"/>
  <p:cmAuthor id="1411829" name="张静_Anua7Nne" initials="authorId_935319063" lastIdx="0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9" name="MA15" initials="" lastIdx="1" clrIdx="0"/>
  <p:cmAuthor id="291" name="未知用户96" initials="" lastIdx="1" clrIdx="0"/>
  <p:cmAuthor id="293" name="未知用户97" initials="" lastIdx="2" clrIdx="0"/>
  <p:cmAuthor id="294" name="未知用户40" initials="" lastIdx="5" clrIdx="1"/>
  <p:cmAuthor id="296" name="未知用户100" initials="" lastIdx="1" clrIdx="0"/>
  <p:cmAuthor id="297" name="未知用户101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46AAC5"/>
    <a:srgbClr val="C0504D"/>
    <a:srgbClr val="9BBB59"/>
    <a:srgbClr val="4F80BD"/>
    <a:srgbClr val="77933C"/>
    <a:srgbClr val="88A154"/>
    <a:srgbClr val="6C6C6C"/>
    <a:srgbClr val="F79646"/>
    <a:srgbClr val="F9B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5026" autoAdjust="0"/>
  </p:normalViewPr>
  <p:slideViewPr>
    <p:cSldViewPr showGuides="1">
      <p:cViewPr varScale="1">
        <p:scale>
          <a:sx n="102" d="100"/>
          <a:sy n="102" d="100"/>
        </p:scale>
        <p:origin x="126" y="378"/>
      </p:cViewPr>
      <p:guideLst>
        <p:guide orient="horz" pos="2160"/>
        <p:guide pos="3862"/>
        <p:guide orient="horz" pos="3208"/>
        <p:guide pos="2752"/>
      </p:guideLst>
    </p:cSldViewPr>
  </p:slideViewPr>
  <p:outlineViewPr>
    <p:cViewPr>
      <p:scale>
        <a:sx n="33" d="100"/>
        <a:sy n="33" d="100"/>
      </p:scale>
      <p:origin x="22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3713"/>
        <p:guide orient="horz" pos="2058"/>
        <p:guide orient="horz" pos="4222"/>
        <p:guide pos="2153"/>
        <p:guide pos="3139"/>
        <p:guide pos="146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5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E:\&#32456;&#31471;&#22238;&#25910;&#29575;\7&#26376;\7&#26376;&#25286;&#26426;&#22238;&#25910;&#29575;&#65288;&#25130;&#33267;8.6&#65289;%20-%20&#26032;&#35268;&#21017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E:\&#32456;&#31471;&#22238;&#25910;&#29575;\7&#26376;\7&#26376;&#25286;&#26426;&#22238;&#25910;&#29575;&#65288;&#25130;&#33267;8.6&#65289;%20-%20&#26032;&#35268;&#21017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E:\&#32456;&#31471;&#22238;&#25910;&#29575;\7&#26376;\7&#26376;&#25286;&#26426;&#22238;&#25910;&#29575;&#65288;&#25130;&#33267;8.6&#65289;%20-%20&#26032;&#35268;&#21017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E:\&#32456;&#31471;&#22238;&#25910;&#29575;\7&#26376;\7&#26376;&#25286;&#26426;&#22238;&#25910;&#29575;&#65288;&#25130;&#33267;8.6&#65289;%20-%20&#26032;&#35268;&#21017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E:\&#32456;&#31471;&#22238;&#25910;&#29575;\7&#26376;\7&#26376;&#25286;&#26426;&#22238;&#25910;&#29575;&#65288;&#25130;&#33267;8.6&#65289;%20-%20&#26032;&#35268;&#21017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终端拆机回收情况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'[7月拆机回收率（截至8.6） - 新规则.xlsx]按地市回收率汇总'!$O$24</c:f>
              <c:strCache>
                <c:ptCount val="1"/>
                <c:pt idx="0">
                  <c:v>应拆回设备数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4874C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新规则.xlsx]按地市回收率汇总'!$J$25:$J$35</c:f>
              <c:strCache>
                <c:ptCount val="11"/>
                <c:pt idx="0">
                  <c:v>温州</c:v>
                </c:pt>
                <c:pt idx="1">
                  <c:v>宁波</c:v>
                </c:pt>
                <c:pt idx="2">
                  <c:v>衢州</c:v>
                </c:pt>
                <c:pt idx="3">
                  <c:v>丽水</c:v>
                </c:pt>
                <c:pt idx="4">
                  <c:v>嘉兴</c:v>
                </c:pt>
                <c:pt idx="5">
                  <c:v>绍兴</c:v>
                </c:pt>
                <c:pt idx="6">
                  <c:v>湖州</c:v>
                </c:pt>
                <c:pt idx="7">
                  <c:v>杭州</c:v>
                </c:pt>
                <c:pt idx="8">
                  <c:v>台州</c:v>
                </c:pt>
                <c:pt idx="9">
                  <c:v>舟山</c:v>
                </c:pt>
                <c:pt idx="10">
                  <c:v>金华</c:v>
                </c:pt>
              </c:strCache>
            </c:strRef>
          </c:cat>
          <c:val>
            <c:numRef>
              <c:f>'[7月拆机回收率（截至8.6） - 新规则.xlsx]按地市回收率汇总'!$O$25:$O$35</c:f>
              <c:numCache>
                <c:formatCode>General</c:formatCode>
                <c:ptCount val="11"/>
                <c:pt idx="0">
                  <c:v>2018</c:v>
                </c:pt>
                <c:pt idx="1">
                  <c:v>2877</c:v>
                </c:pt>
                <c:pt idx="2">
                  <c:v>586</c:v>
                </c:pt>
                <c:pt idx="3">
                  <c:v>690</c:v>
                </c:pt>
                <c:pt idx="4">
                  <c:v>879</c:v>
                </c:pt>
                <c:pt idx="5">
                  <c:v>1152</c:v>
                </c:pt>
                <c:pt idx="6">
                  <c:v>698</c:v>
                </c:pt>
                <c:pt idx="7">
                  <c:v>4563</c:v>
                </c:pt>
                <c:pt idx="8">
                  <c:v>1591</c:v>
                </c:pt>
                <c:pt idx="9">
                  <c:v>300</c:v>
                </c:pt>
                <c:pt idx="10">
                  <c:v>2240</c:v>
                </c:pt>
              </c:numCache>
            </c:numRef>
          </c:val>
        </c:ser>
        <c:ser>
          <c:idx val="1"/>
          <c:order val="1"/>
          <c:tx>
            <c:strRef>
              <c:f>'[7月拆机回收率（截至8.6） - 新规则.xlsx]按地市回收率汇总'!$P$24</c:f>
              <c:strCache>
                <c:ptCount val="1"/>
                <c:pt idx="0">
                  <c:v>已拆回设备数量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EE822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新规则.xlsx]按地市回收率汇总'!$J$25:$J$35</c:f>
              <c:strCache>
                <c:ptCount val="11"/>
                <c:pt idx="0">
                  <c:v>温州</c:v>
                </c:pt>
                <c:pt idx="1">
                  <c:v>宁波</c:v>
                </c:pt>
                <c:pt idx="2">
                  <c:v>衢州</c:v>
                </c:pt>
                <c:pt idx="3">
                  <c:v>丽水</c:v>
                </c:pt>
                <c:pt idx="4">
                  <c:v>嘉兴</c:v>
                </c:pt>
                <c:pt idx="5">
                  <c:v>绍兴</c:v>
                </c:pt>
                <c:pt idx="6">
                  <c:v>湖州</c:v>
                </c:pt>
                <c:pt idx="7">
                  <c:v>杭州</c:v>
                </c:pt>
                <c:pt idx="8">
                  <c:v>台州</c:v>
                </c:pt>
                <c:pt idx="9">
                  <c:v>舟山</c:v>
                </c:pt>
                <c:pt idx="10">
                  <c:v>金华</c:v>
                </c:pt>
              </c:strCache>
            </c:strRef>
          </c:cat>
          <c:val>
            <c:numRef>
              <c:f>'[7月拆机回收率（截至8.6） - 新规则.xlsx]按地市回收率汇总'!$P$25:$P$35</c:f>
              <c:numCache>
                <c:formatCode>General</c:formatCode>
                <c:ptCount val="11"/>
                <c:pt idx="0">
                  <c:v>2007</c:v>
                </c:pt>
                <c:pt idx="1">
                  <c:v>2732</c:v>
                </c:pt>
                <c:pt idx="2">
                  <c:v>556</c:v>
                </c:pt>
                <c:pt idx="3">
                  <c:v>652</c:v>
                </c:pt>
                <c:pt idx="4">
                  <c:v>829</c:v>
                </c:pt>
                <c:pt idx="5">
                  <c:v>1073</c:v>
                </c:pt>
                <c:pt idx="6">
                  <c:v>648</c:v>
                </c:pt>
                <c:pt idx="7">
                  <c:v>4207</c:v>
                </c:pt>
                <c:pt idx="8">
                  <c:v>1458</c:v>
                </c:pt>
                <c:pt idx="9">
                  <c:v>257</c:v>
                </c:pt>
                <c:pt idx="10">
                  <c:v>1856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29787300"/>
        <c:axId val="153260415"/>
      </c:barChart>
      <c:lineChart>
        <c:grouping val="standard"/>
        <c:varyColors val="0"/>
        <c:ser>
          <c:idx val="2"/>
          <c:order val="2"/>
          <c:tx>
            <c:strRef>
              <c:f>'[7月拆机回收率（截至8.6） - 新规则.xlsx]按地市回收率汇总'!$Q$24</c:f>
              <c:strCache>
                <c:ptCount val="1"/>
                <c:pt idx="0">
                  <c:v>终端回收率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7"/>
              <c:layout>
                <c:manualLayout>
                  <c:x val="-0.00867430441898527"/>
                  <c:y val="0.143230679837304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新规则.xlsx]按地市回收率汇总'!$J$25:$J$35</c:f>
              <c:strCache>
                <c:ptCount val="11"/>
                <c:pt idx="0">
                  <c:v>温州</c:v>
                </c:pt>
                <c:pt idx="1">
                  <c:v>宁波</c:v>
                </c:pt>
                <c:pt idx="2">
                  <c:v>衢州</c:v>
                </c:pt>
                <c:pt idx="3">
                  <c:v>丽水</c:v>
                </c:pt>
                <c:pt idx="4">
                  <c:v>嘉兴</c:v>
                </c:pt>
                <c:pt idx="5">
                  <c:v>绍兴</c:v>
                </c:pt>
                <c:pt idx="6">
                  <c:v>湖州</c:v>
                </c:pt>
                <c:pt idx="7">
                  <c:v>杭州</c:v>
                </c:pt>
                <c:pt idx="8">
                  <c:v>台州</c:v>
                </c:pt>
                <c:pt idx="9">
                  <c:v>舟山</c:v>
                </c:pt>
                <c:pt idx="10">
                  <c:v>金华</c:v>
                </c:pt>
              </c:strCache>
            </c:strRef>
          </c:cat>
          <c:val>
            <c:numRef>
              <c:f>'[7月拆机回收率（截至8.6） - 新规则.xlsx]按地市回收率汇总'!$Q$25:$Q$35</c:f>
              <c:numCache>
                <c:formatCode>0.00%</c:formatCode>
                <c:ptCount val="11"/>
                <c:pt idx="0">
                  <c:v>0.994549058473736</c:v>
                </c:pt>
                <c:pt idx="1">
                  <c:v>0.949600278067431</c:v>
                </c:pt>
                <c:pt idx="2">
                  <c:v>0.948805460750853</c:v>
                </c:pt>
                <c:pt idx="3">
                  <c:v>0.944927536231884</c:v>
                </c:pt>
                <c:pt idx="4">
                  <c:v>0.943117178612059</c:v>
                </c:pt>
                <c:pt idx="5">
                  <c:v>0.931423611111111</c:v>
                </c:pt>
                <c:pt idx="6">
                  <c:v>0.92836676217765</c:v>
                </c:pt>
                <c:pt idx="7">
                  <c:v>0.921981152750384</c:v>
                </c:pt>
                <c:pt idx="8">
                  <c:v>0.916404776869893</c:v>
                </c:pt>
                <c:pt idx="9">
                  <c:v>0.856666666666667</c:v>
                </c:pt>
                <c:pt idx="10">
                  <c:v>0.828571428571429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48454"/>
        <c:axId val="519907985"/>
      </c:lineChart>
      <c:catAx>
        <c:axId val="1297873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3260415"/>
        <c:crosses val="autoZero"/>
        <c:auto val="1"/>
        <c:lblAlgn val="ctr"/>
        <c:lblOffset val="100"/>
        <c:noMultiLvlLbl val="0"/>
      </c:catAx>
      <c:valAx>
        <c:axId val="153260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787300"/>
        <c:crosses val="autoZero"/>
        <c:crossBetween val="between"/>
      </c:valAx>
      <c:catAx>
        <c:axId val="19448454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9907985"/>
        <c:crosses val="autoZero"/>
        <c:auto val="1"/>
        <c:lblAlgn val="ctr"/>
        <c:lblOffset val="100"/>
        <c:noMultiLvlLbl val="0"/>
      </c:catAx>
      <c:valAx>
        <c:axId val="519907985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44845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61783960720131"/>
          <c:y val="0.047065659500290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672becc-f88d-4e68-a023-c68e0be8c6ad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后10区县终端回收率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'[7月拆机回收率（截至8.6） - 新规则.xlsx]按区县回收率汇总'!$T$102</c:f>
              <c:strCache>
                <c:ptCount val="1"/>
                <c:pt idx="0">
                  <c:v>应拆回设备数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4874C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新规则.xlsx]按区县回收率汇总'!$P$103:$P$112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新规则.xlsx]按区县回收率汇总'!$T$103:$T$112</c:f>
              <c:numCache>
                <c:formatCode>General</c:formatCode>
                <c:ptCount val="10"/>
                <c:pt idx="0">
                  <c:v>198</c:v>
                </c:pt>
                <c:pt idx="1">
                  <c:v>339</c:v>
                </c:pt>
                <c:pt idx="2">
                  <c:v>98</c:v>
                </c:pt>
                <c:pt idx="3">
                  <c:v>81</c:v>
                </c:pt>
                <c:pt idx="4">
                  <c:v>95</c:v>
                </c:pt>
                <c:pt idx="5">
                  <c:v>240</c:v>
                </c:pt>
                <c:pt idx="6">
                  <c:v>741</c:v>
                </c:pt>
                <c:pt idx="7">
                  <c:v>106</c:v>
                </c:pt>
                <c:pt idx="8">
                  <c:v>38</c:v>
                </c:pt>
                <c:pt idx="9">
                  <c:v>25</c:v>
                </c:pt>
              </c:numCache>
            </c:numRef>
          </c:val>
        </c:ser>
        <c:ser>
          <c:idx val="1"/>
          <c:order val="1"/>
          <c:tx>
            <c:strRef>
              <c:f>'[7月拆机回收率（截至8.6） - 新规则.xlsx]按区县回收率汇总'!$U$102</c:f>
              <c:strCache>
                <c:ptCount val="1"/>
                <c:pt idx="0">
                  <c:v>已拆回设备数量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EE822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新规则.xlsx]按区县回收率汇总'!$P$103:$P$112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新规则.xlsx]按区县回收率汇总'!$U$103:$U$112</c:f>
              <c:numCache>
                <c:formatCode>General</c:formatCode>
                <c:ptCount val="10"/>
                <c:pt idx="0">
                  <c:v>165</c:v>
                </c:pt>
                <c:pt idx="1">
                  <c:v>281</c:v>
                </c:pt>
                <c:pt idx="2">
                  <c:v>79</c:v>
                </c:pt>
                <c:pt idx="3">
                  <c:v>62</c:v>
                </c:pt>
                <c:pt idx="4">
                  <c:v>70</c:v>
                </c:pt>
                <c:pt idx="5">
                  <c:v>174</c:v>
                </c:pt>
                <c:pt idx="6">
                  <c:v>519</c:v>
                </c:pt>
                <c:pt idx="7">
                  <c:v>74</c:v>
                </c:pt>
                <c:pt idx="8">
                  <c:v>26</c:v>
                </c:pt>
                <c:pt idx="9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29787300"/>
        <c:axId val="153260415"/>
      </c:barChart>
      <c:lineChart>
        <c:grouping val="standard"/>
        <c:varyColors val="0"/>
        <c:ser>
          <c:idx val="2"/>
          <c:order val="2"/>
          <c:tx>
            <c:strRef>
              <c:f>'[7月拆机回收率（截至8.6） - 新规则.xlsx]按区县回收率汇总'!$V$102</c:f>
              <c:strCache>
                <c:ptCount val="1"/>
                <c:pt idx="0">
                  <c:v>终端回收率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rgbClr val="00B050"/>
                </a:solidFill>
              </a:ln>
              <a:effectLst/>
            </c:spPr>
          </c:marker>
          <c:dLbls>
            <c:dLbl>
              <c:idx val="6"/>
              <c:layout>
                <c:manualLayout>
                  <c:x val="-0.0104195079373738"/>
                  <c:y val="0.15088177661659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新规则.xlsx]按区县回收率汇总'!$P$103:$P$112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新规则.xlsx]按区县回收率汇总'!$V$103:$V$112</c:f>
              <c:numCache>
                <c:formatCode>0.00%</c:formatCode>
                <c:ptCount val="10"/>
                <c:pt idx="0">
                  <c:v>0.833333333333333</c:v>
                </c:pt>
                <c:pt idx="1">
                  <c:v>0.828908554572271</c:v>
                </c:pt>
                <c:pt idx="2">
                  <c:v>0.806122448979592</c:v>
                </c:pt>
                <c:pt idx="3">
                  <c:v>0.765432098765432</c:v>
                </c:pt>
                <c:pt idx="4">
                  <c:v>0.736842105263158</c:v>
                </c:pt>
                <c:pt idx="5">
                  <c:v>0.725</c:v>
                </c:pt>
                <c:pt idx="6">
                  <c:v>0.700404858299595</c:v>
                </c:pt>
                <c:pt idx="7">
                  <c:v>0.69811320754717</c:v>
                </c:pt>
                <c:pt idx="8">
                  <c:v>0.684210526315789</c:v>
                </c:pt>
                <c:pt idx="9">
                  <c:v>0.6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448454"/>
        <c:axId val="519907985"/>
      </c:lineChart>
      <c:catAx>
        <c:axId val="1297873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3260415"/>
        <c:crosses val="autoZero"/>
        <c:auto val="1"/>
        <c:lblAlgn val="ctr"/>
        <c:lblOffset val="100"/>
        <c:noMultiLvlLbl val="0"/>
      </c:catAx>
      <c:valAx>
        <c:axId val="153260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9787300"/>
        <c:crosses val="autoZero"/>
        <c:crossBetween val="between"/>
      </c:valAx>
      <c:catAx>
        <c:axId val="19448454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9907985"/>
        <c:crosses val="autoZero"/>
        <c:auto val="1"/>
        <c:lblAlgn val="ctr"/>
        <c:lblOffset val="100"/>
        <c:noMultiLvlLbl val="0"/>
      </c:catAx>
      <c:valAx>
        <c:axId val="519907985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44845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72035658397893"/>
          <c:y val="0.031811694123908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53aa5cf-58c9-45c8-b3ec-2ec3cf016ace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81400437636762"/>
          <c:y val="0.0135746606334842"/>
          <c:w val="0.891400437636761"/>
          <c:h val="0.362895927601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'[7月拆机回收率（截至8.6） - 新规则.xlsx]Sheet1'!$A$23</c:f>
              <c:strCache>
                <c:ptCount val="1"/>
                <c:pt idx="0">
                  <c:v>ONU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新规则.xlsx]Sheet1'!$B$22:$H$22</c:f>
              <c:strCache>
                <c:ptCount val="7"/>
                <c:pt idx="0">
                  <c:v>MPLS VPN专线</c:v>
                </c:pt>
                <c:pt idx="1">
                  <c:v>电路出租</c:v>
                </c:pt>
                <c:pt idx="2">
                  <c:v>服务类</c:v>
                </c:pt>
                <c:pt idx="3">
                  <c:v>固话</c:v>
                </c:pt>
                <c:pt idx="4">
                  <c:v>互联网专线</c:v>
                </c:pt>
                <c:pt idx="5">
                  <c:v>视频监控</c:v>
                </c:pt>
                <c:pt idx="6">
                  <c:v>其他专线</c:v>
                </c:pt>
              </c:strCache>
            </c:strRef>
          </c:cat>
          <c:val>
            <c:numRef>
              <c:f>'[7月拆机回收率（截至8.6） - 新规则.xlsx]Sheet1'!$B$23:$H$23</c:f>
              <c:numCache>
                <c:formatCode>General</c:formatCode>
                <c:ptCount val="7"/>
                <c:pt idx="0">
                  <c:v>1192</c:v>
                </c:pt>
                <c:pt idx="1">
                  <c:v>2</c:v>
                </c:pt>
                <c:pt idx="3">
                  <c:v>445</c:v>
                </c:pt>
                <c:pt idx="4">
                  <c:v>2967</c:v>
                </c:pt>
                <c:pt idx="5">
                  <c:v>1703</c:v>
                </c:pt>
                <c:pt idx="6">
                  <c:v>263</c:v>
                </c:pt>
              </c:numCache>
            </c:numRef>
          </c:val>
        </c:ser>
        <c:ser>
          <c:idx val="1"/>
          <c:order val="1"/>
          <c:tx>
            <c:strRef>
              <c:f>'[7月拆机回收率（截至8.6） - 新规则.xlsx]Sheet1'!$A$24</c:f>
              <c:strCache>
                <c:ptCount val="1"/>
                <c:pt idx="0">
                  <c:v>摄像头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新规则.xlsx]Sheet1'!$B$22:$H$22</c:f>
              <c:strCache>
                <c:ptCount val="7"/>
                <c:pt idx="0">
                  <c:v>MPLS VPN专线</c:v>
                </c:pt>
                <c:pt idx="1">
                  <c:v>电路出租</c:v>
                </c:pt>
                <c:pt idx="2">
                  <c:v>服务类</c:v>
                </c:pt>
                <c:pt idx="3">
                  <c:v>固话</c:v>
                </c:pt>
                <c:pt idx="4">
                  <c:v>互联网专线</c:v>
                </c:pt>
                <c:pt idx="5">
                  <c:v>视频监控</c:v>
                </c:pt>
                <c:pt idx="6">
                  <c:v>其他专线</c:v>
                </c:pt>
              </c:strCache>
            </c:strRef>
          </c:cat>
          <c:val>
            <c:numRef>
              <c:f>'[7月拆机回收率（截至8.6） - 新规则.xlsx]Sheet1'!$B$24:$H$24</c:f>
              <c:numCache>
                <c:formatCode>General</c:formatCode>
                <c:ptCount val="7"/>
                <c:pt idx="0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2094</c:v>
                </c:pt>
              </c:numCache>
            </c:numRef>
          </c:val>
        </c:ser>
        <c:ser>
          <c:idx val="2"/>
          <c:order val="2"/>
          <c:tx>
            <c:strRef>
              <c:f>'[7月拆机回收率（截至8.6） - 新规则.xlsx]Sheet1'!$A$25</c:f>
              <c:strCache>
                <c:ptCount val="1"/>
                <c:pt idx="0">
                  <c:v>FTTO</c:v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新规则.xlsx]Sheet1'!$B$22:$H$22</c:f>
              <c:strCache>
                <c:ptCount val="7"/>
                <c:pt idx="0">
                  <c:v>MPLS VPN专线</c:v>
                </c:pt>
                <c:pt idx="1">
                  <c:v>电路出租</c:v>
                </c:pt>
                <c:pt idx="2">
                  <c:v>服务类</c:v>
                </c:pt>
                <c:pt idx="3">
                  <c:v>固话</c:v>
                </c:pt>
                <c:pt idx="4">
                  <c:v>互联网专线</c:v>
                </c:pt>
                <c:pt idx="5">
                  <c:v>视频监控</c:v>
                </c:pt>
                <c:pt idx="6">
                  <c:v>其他专线</c:v>
                </c:pt>
              </c:strCache>
            </c:strRef>
          </c:cat>
          <c:val>
            <c:numRef>
              <c:f>'[7月拆机回收率（截至8.6） - 新规则.xlsx]Sheet1'!$B$25:$H$25</c:f>
              <c:numCache>
                <c:formatCode>General</c:formatCode>
                <c:ptCount val="7"/>
                <c:pt idx="0">
                  <c:v>2</c:v>
                </c:pt>
                <c:pt idx="2">
                  <c:v>3045</c:v>
                </c:pt>
                <c:pt idx="4">
                  <c:v>67</c:v>
                </c:pt>
              </c:numCache>
            </c:numRef>
          </c:val>
        </c:ser>
        <c:ser>
          <c:idx val="3"/>
          <c:order val="3"/>
          <c:tx>
            <c:strRef>
              <c:f>'[7月拆机回收率（截至8.6） - 新规则.xlsx]Sheet1'!$A$26</c:f>
              <c:strCache>
                <c:ptCount val="1"/>
                <c:pt idx="0">
                  <c:v>WIFI路由器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90000">
                  <a:schemeClr val="accent4"/>
                </a:gs>
              </a:gsLst>
              <a:lin ang="5400000" scaled="0"/>
            </a:gradFill>
            <a:ln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4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新规则.xlsx]Sheet1'!$B$22:$H$22</c:f>
              <c:strCache>
                <c:ptCount val="7"/>
                <c:pt idx="0">
                  <c:v>MPLS VPN专线</c:v>
                </c:pt>
                <c:pt idx="1">
                  <c:v>电路出租</c:v>
                </c:pt>
                <c:pt idx="2">
                  <c:v>服务类</c:v>
                </c:pt>
                <c:pt idx="3">
                  <c:v>固话</c:v>
                </c:pt>
                <c:pt idx="4">
                  <c:v>互联网专线</c:v>
                </c:pt>
                <c:pt idx="5">
                  <c:v>视频监控</c:v>
                </c:pt>
                <c:pt idx="6">
                  <c:v>其他专线</c:v>
                </c:pt>
              </c:strCache>
            </c:strRef>
          </c:cat>
          <c:val>
            <c:numRef>
              <c:f>'[7月拆机回收率（截至8.6） - 新规则.xlsx]Sheet1'!$B$26:$H$26</c:f>
              <c:numCache>
                <c:formatCode>General</c:formatCode>
                <c:ptCount val="7"/>
                <c:pt idx="2">
                  <c:v>1054</c:v>
                </c:pt>
                <c:pt idx="3">
                  <c:v>2</c:v>
                </c:pt>
              </c:numCache>
            </c:numRef>
          </c:val>
        </c:ser>
        <c:ser>
          <c:idx val="4"/>
          <c:order val="4"/>
          <c:tx>
            <c:strRef>
              <c:f>'[7月拆机回收率（截至8.6） - 新规则.xlsx]Sheet1'!$A$27</c:f>
              <c:strCache>
                <c:ptCount val="1"/>
                <c:pt idx="0">
                  <c:v>专线卫士</c:v>
                </c:pt>
              </c:strCache>
            </c:strRef>
          </c:tx>
          <c:spPr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90000">
                  <a:schemeClr val="accent5"/>
                </a:gs>
              </a:gsLst>
              <a:lin ang="5400000" scaled="0"/>
            </a:gradFill>
            <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5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新规则.xlsx]Sheet1'!$B$22:$H$22</c:f>
              <c:strCache>
                <c:ptCount val="7"/>
                <c:pt idx="0">
                  <c:v>MPLS VPN专线</c:v>
                </c:pt>
                <c:pt idx="1">
                  <c:v>电路出租</c:v>
                </c:pt>
                <c:pt idx="2">
                  <c:v>服务类</c:v>
                </c:pt>
                <c:pt idx="3">
                  <c:v>固话</c:v>
                </c:pt>
                <c:pt idx="4">
                  <c:v>互联网专线</c:v>
                </c:pt>
                <c:pt idx="5">
                  <c:v>视频监控</c:v>
                </c:pt>
                <c:pt idx="6">
                  <c:v>其他专线</c:v>
                </c:pt>
              </c:strCache>
            </c:strRef>
          </c:cat>
          <c:val>
            <c:numRef>
              <c:f>'[7月拆机回收率（截至8.6） - 新规则.xlsx]Sheet1'!$B$27:$H$27</c:f>
              <c:numCache>
                <c:formatCode>General</c:formatCode>
                <c:ptCount val="7"/>
                <c:pt idx="2">
                  <c:v>145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919746604"/>
        <c:axId val="696595740"/>
      </c:barChart>
      <c:catAx>
        <c:axId val="9197466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96595740"/>
        <c:crosses val="autoZero"/>
        <c:auto val="1"/>
        <c:lblAlgn val="ctr"/>
        <c:lblOffset val="100"/>
        <c:noMultiLvlLbl val="0"/>
      </c:catAx>
      <c:valAx>
        <c:axId val="6965957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974660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46a1672-390b-46fb-aa16-069831cd016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36542669584245"/>
          <c:y val="0.0113765642775882"/>
          <c:w val="0.896925601750547"/>
          <c:h val="0.4736442927569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'[7月拆机回收率（截至8.6） - 新规则.xlsx]Sheet1'!$A$52</c:f>
              <c:strCache>
                <c:ptCount val="1"/>
                <c:pt idx="0">
                  <c:v>ONU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5A82D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新规则.xlsx]Sheet1'!$B$51:$L$51</c:f>
              <c:strCache>
                <c:ptCount val="11"/>
                <c:pt idx="0">
                  <c:v>杭州市</c:v>
                </c:pt>
                <c:pt idx="1">
                  <c:v>湖州</c:v>
                </c:pt>
                <c:pt idx="2">
                  <c:v>嘉兴</c:v>
                </c:pt>
                <c:pt idx="3">
                  <c:v>金华</c:v>
                </c:pt>
                <c:pt idx="4">
                  <c:v>丽水</c:v>
                </c:pt>
                <c:pt idx="5">
                  <c:v>宁波</c:v>
                </c:pt>
                <c:pt idx="6">
                  <c:v>衢州</c:v>
                </c:pt>
                <c:pt idx="7">
                  <c:v>绍兴</c:v>
                </c:pt>
                <c:pt idx="8">
                  <c:v>台州</c:v>
                </c:pt>
                <c:pt idx="9">
                  <c:v>温州</c:v>
                </c:pt>
                <c:pt idx="10">
                  <c:v>舟山</c:v>
                </c:pt>
              </c:strCache>
            </c:strRef>
          </c:cat>
          <c:val>
            <c:numRef>
              <c:f>'[7月拆机回收率（截至8.6） - 新规则.xlsx]Sheet1'!$B$52:$L$52</c:f>
              <c:numCache>
                <c:formatCode>General</c:formatCode>
                <c:ptCount val="11"/>
                <c:pt idx="0">
                  <c:v>1173</c:v>
                </c:pt>
                <c:pt idx="1">
                  <c:v>343</c:v>
                </c:pt>
                <c:pt idx="2">
                  <c:v>331</c:v>
                </c:pt>
                <c:pt idx="3">
                  <c:v>781</c:v>
                </c:pt>
                <c:pt idx="4">
                  <c:v>380</c:v>
                </c:pt>
                <c:pt idx="5">
                  <c:v>1056</c:v>
                </c:pt>
                <c:pt idx="6">
                  <c:v>460</c:v>
                </c:pt>
                <c:pt idx="7">
                  <c:v>321</c:v>
                </c:pt>
                <c:pt idx="8">
                  <c:v>543</c:v>
                </c:pt>
                <c:pt idx="9">
                  <c:v>1083</c:v>
                </c:pt>
                <c:pt idx="10">
                  <c:v>101</c:v>
                </c:pt>
              </c:numCache>
            </c:numRef>
          </c:val>
        </c:ser>
        <c:ser>
          <c:idx val="1"/>
          <c:order val="1"/>
          <c:tx>
            <c:strRef>
              <c:f>'[7月拆机回收率（截至8.6） - 新规则.xlsx]Sheet1'!$A$53</c:f>
              <c:strCache>
                <c:ptCount val="1"/>
                <c:pt idx="0">
                  <c:v>FTTO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F0904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新规则.xlsx]Sheet1'!$B$51:$L$51</c:f>
              <c:strCache>
                <c:ptCount val="11"/>
                <c:pt idx="0">
                  <c:v>杭州市</c:v>
                </c:pt>
                <c:pt idx="1">
                  <c:v>湖州</c:v>
                </c:pt>
                <c:pt idx="2">
                  <c:v>嘉兴</c:v>
                </c:pt>
                <c:pt idx="3">
                  <c:v>金华</c:v>
                </c:pt>
                <c:pt idx="4">
                  <c:v>丽水</c:v>
                </c:pt>
                <c:pt idx="5">
                  <c:v>宁波</c:v>
                </c:pt>
                <c:pt idx="6">
                  <c:v>衢州</c:v>
                </c:pt>
                <c:pt idx="7">
                  <c:v>绍兴</c:v>
                </c:pt>
                <c:pt idx="8">
                  <c:v>台州</c:v>
                </c:pt>
                <c:pt idx="9">
                  <c:v>温州</c:v>
                </c:pt>
                <c:pt idx="10">
                  <c:v>舟山</c:v>
                </c:pt>
              </c:strCache>
            </c:strRef>
          </c:cat>
          <c:val>
            <c:numRef>
              <c:f>'[7月拆机回收率（截至8.6） - 新规则.xlsx]Sheet1'!$B$53:$L$53</c:f>
              <c:numCache>
                <c:formatCode>General</c:formatCode>
                <c:ptCount val="11"/>
                <c:pt idx="0">
                  <c:v>385</c:v>
                </c:pt>
                <c:pt idx="1">
                  <c:v>3</c:v>
                </c:pt>
                <c:pt idx="2">
                  <c:v>32</c:v>
                </c:pt>
                <c:pt idx="3">
                  <c:v>502</c:v>
                </c:pt>
                <c:pt idx="4">
                  <c:v>2</c:v>
                </c:pt>
                <c:pt idx="5">
                  <c:v>493</c:v>
                </c:pt>
                <c:pt idx="6">
                  <c:v>4</c:v>
                </c:pt>
                <c:pt idx="7">
                  <c:v>118</c:v>
                </c:pt>
                <c:pt idx="8">
                  <c:v>162</c:v>
                </c:pt>
                <c:pt idx="9">
                  <c:v>384</c:v>
                </c:pt>
                <c:pt idx="10">
                  <c:v>14</c:v>
                </c:pt>
              </c:numCache>
            </c:numRef>
          </c:val>
        </c:ser>
        <c:ser>
          <c:idx val="2"/>
          <c:order val="2"/>
          <c:tx>
            <c:strRef>
              <c:f>'[7月拆机回收率（截至8.6） - 新规则.xlsx]Sheet1'!$A$54</c:f>
              <c:strCache>
                <c:ptCount val="1"/>
                <c:pt idx="0">
                  <c:v>摄像头</c:v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F4C1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新规则.xlsx]Sheet1'!$B$51:$L$51</c:f>
              <c:strCache>
                <c:ptCount val="11"/>
                <c:pt idx="0">
                  <c:v>杭州市</c:v>
                </c:pt>
                <c:pt idx="1">
                  <c:v>湖州</c:v>
                </c:pt>
                <c:pt idx="2">
                  <c:v>嘉兴</c:v>
                </c:pt>
                <c:pt idx="3">
                  <c:v>金华</c:v>
                </c:pt>
                <c:pt idx="4">
                  <c:v>丽水</c:v>
                </c:pt>
                <c:pt idx="5">
                  <c:v>宁波</c:v>
                </c:pt>
                <c:pt idx="6">
                  <c:v>衢州</c:v>
                </c:pt>
                <c:pt idx="7">
                  <c:v>绍兴</c:v>
                </c:pt>
                <c:pt idx="8">
                  <c:v>台州</c:v>
                </c:pt>
                <c:pt idx="9">
                  <c:v>温州</c:v>
                </c:pt>
                <c:pt idx="10">
                  <c:v>舟山</c:v>
                </c:pt>
              </c:strCache>
            </c:strRef>
          </c:cat>
          <c:val>
            <c:numRef>
              <c:f>'[7月拆机回收率（截至8.6） - 新规则.xlsx]Sheet1'!$B$54:$L$54</c:f>
              <c:numCache>
                <c:formatCode>General</c:formatCode>
                <c:ptCount val="11"/>
                <c:pt idx="0">
                  <c:v>1435</c:v>
                </c:pt>
                <c:pt idx="1">
                  <c:v>102</c:v>
                </c:pt>
                <c:pt idx="2">
                  <c:v>250</c:v>
                </c:pt>
                <c:pt idx="3">
                  <c:v>229</c:v>
                </c:pt>
                <c:pt idx="4">
                  <c:v>81</c:v>
                </c:pt>
                <c:pt idx="5">
                  <c:v>309</c:v>
                </c:pt>
                <c:pt idx="6">
                  <c:v>6</c:v>
                </c:pt>
                <c:pt idx="7">
                  <c:v>278</c:v>
                </c:pt>
                <c:pt idx="8">
                  <c:v>156</c:v>
                </c:pt>
                <c:pt idx="9">
                  <c:v>242</c:v>
                </c:pt>
                <c:pt idx="10">
                  <c:v>26</c:v>
                </c:pt>
              </c:numCache>
            </c:numRef>
          </c:val>
        </c:ser>
        <c:ser>
          <c:idx val="3"/>
          <c:order val="3"/>
          <c:tx>
            <c:strRef>
              <c:f>'[7月拆机回收率（截至8.6） - 新规则.xlsx]Sheet1'!$A$55</c:f>
              <c:strCache>
                <c:ptCount val="1"/>
                <c:pt idx="0">
                  <c:v>WIFI路由器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90000">
                  <a:schemeClr val="accent4"/>
                </a:gs>
              </a:gsLst>
              <a:lin ang="5400000" scaled="0"/>
            </a:gradFill>
            <a:ln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4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92CB69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新规则.xlsx]Sheet1'!$B$51:$L$51</c:f>
              <c:strCache>
                <c:ptCount val="11"/>
                <c:pt idx="0">
                  <c:v>杭州市</c:v>
                </c:pt>
                <c:pt idx="1">
                  <c:v>湖州</c:v>
                </c:pt>
                <c:pt idx="2">
                  <c:v>嘉兴</c:v>
                </c:pt>
                <c:pt idx="3">
                  <c:v>金华</c:v>
                </c:pt>
                <c:pt idx="4">
                  <c:v>丽水</c:v>
                </c:pt>
                <c:pt idx="5">
                  <c:v>宁波</c:v>
                </c:pt>
                <c:pt idx="6">
                  <c:v>衢州</c:v>
                </c:pt>
                <c:pt idx="7">
                  <c:v>绍兴</c:v>
                </c:pt>
                <c:pt idx="8">
                  <c:v>台州</c:v>
                </c:pt>
                <c:pt idx="9">
                  <c:v>温州</c:v>
                </c:pt>
                <c:pt idx="10">
                  <c:v>舟山</c:v>
                </c:pt>
              </c:strCache>
            </c:strRef>
          </c:cat>
          <c:val>
            <c:numRef>
              <c:f>'[7月拆机回收率（截至8.6） - 新规则.xlsx]Sheet1'!$B$55:$L$55</c:f>
              <c:numCache>
                <c:formatCode>General</c:formatCode>
                <c:ptCount val="11"/>
                <c:pt idx="0">
                  <c:v>488</c:v>
                </c:pt>
                <c:pt idx="1">
                  <c:v>53</c:v>
                </c:pt>
                <c:pt idx="2">
                  <c:v>15</c:v>
                </c:pt>
                <c:pt idx="3">
                  <c:v>31</c:v>
                </c:pt>
                <c:pt idx="4">
                  <c:v>68</c:v>
                </c:pt>
                <c:pt idx="5">
                  <c:v>157</c:v>
                </c:pt>
                <c:pt idx="6">
                  <c:v>28</c:v>
                </c:pt>
                <c:pt idx="7">
                  <c:v>129</c:v>
                </c:pt>
                <c:pt idx="8">
                  <c:v>37</c:v>
                </c:pt>
                <c:pt idx="9">
                  <c:v>44</c:v>
                </c:pt>
                <c:pt idx="10">
                  <c:v>6</c:v>
                </c:pt>
              </c:numCache>
            </c:numRef>
          </c:val>
        </c:ser>
        <c:ser>
          <c:idx val="4"/>
          <c:order val="4"/>
          <c:tx>
            <c:strRef>
              <c:f>'[7月拆机回收率（截至8.6） - 新规则.xlsx]Sheet1'!$A$56</c:f>
              <c:strCache>
                <c:ptCount val="1"/>
                <c:pt idx="0">
                  <c:v>专线卫士</c:v>
                </c:pt>
              </c:strCache>
            </c:strRef>
          </c:tx>
          <c:spPr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90000">
                  <a:schemeClr val="accent5"/>
                </a:gs>
              </a:gsLst>
              <a:lin ang="5400000" scaled="0"/>
            </a:gradFill>
            <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5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53CBC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新规则.xlsx]Sheet1'!$B$51:$L$51</c:f>
              <c:strCache>
                <c:ptCount val="11"/>
                <c:pt idx="0">
                  <c:v>杭州市</c:v>
                </c:pt>
                <c:pt idx="1">
                  <c:v>湖州</c:v>
                </c:pt>
                <c:pt idx="2">
                  <c:v>嘉兴</c:v>
                </c:pt>
                <c:pt idx="3">
                  <c:v>金华</c:v>
                </c:pt>
                <c:pt idx="4">
                  <c:v>丽水</c:v>
                </c:pt>
                <c:pt idx="5">
                  <c:v>宁波</c:v>
                </c:pt>
                <c:pt idx="6">
                  <c:v>衢州</c:v>
                </c:pt>
                <c:pt idx="7">
                  <c:v>绍兴</c:v>
                </c:pt>
                <c:pt idx="8">
                  <c:v>台州</c:v>
                </c:pt>
                <c:pt idx="9">
                  <c:v>温州</c:v>
                </c:pt>
                <c:pt idx="10">
                  <c:v>舟山</c:v>
                </c:pt>
              </c:strCache>
            </c:strRef>
          </c:cat>
          <c:val>
            <c:numRef>
              <c:f>'[7月拆机回收率（截至8.6） - 新规则.xlsx]Sheet1'!$B$56:$L$56</c:f>
              <c:numCache>
                <c:formatCode>General</c:formatCode>
                <c:ptCount val="11"/>
                <c:pt idx="0">
                  <c:v>12</c:v>
                </c:pt>
                <c:pt idx="1">
                  <c:v>9</c:v>
                </c:pt>
                <c:pt idx="2">
                  <c:v>13</c:v>
                </c:pt>
                <c:pt idx="3">
                  <c:v>16</c:v>
                </c:pt>
                <c:pt idx="4">
                  <c:v>3</c:v>
                </c:pt>
                <c:pt idx="5">
                  <c:v>15</c:v>
                </c:pt>
                <c:pt idx="7">
                  <c:v>36</c:v>
                </c:pt>
                <c:pt idx="8">
                  <c:v>27</c:v>
                </c:pt>
                <c:pt idx="9">
                  <c:v>12</c:v>
                </c:pt>
                <c:pt idx="10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984310067"/>
        <c:axId val="308837851"/>
      </c:barChart>
      <c:catAx>
        <c:axId val="9843100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8837851"/>
        <c:crosses val="autoZero"/>
        <c:auto val="1"/>
        <c:lblAlgn val="ctr"/>
        <c:lblOffset val="100"/>
        <c:noMultiLvlLbl val="0"/>
      </c:catAx>
      <c:valAx>
        <c:axId val="3088378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43100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3494368-dde8-4683-b5d4-072189e3ae5b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86457375541836"/>
          <c:y val="0.0184979652238259"/>
          <c:w val="0.897746170678337"/>
          <c:h val="0.4864964853866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'[7月拆机回收率（截至8.6） - 新规则.xlsx]Sheet1'!$A$38</c:f>
              <c:strCache>
                <c:ptCount val="1"/>
                <c:pt idx="0">
                  <c:v>ONU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5A82D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新规则.xlsx]Sheet1'!$B$37:$K$37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新规则.xlsx]Sheet1'!$B$38:$K$38</c:f>
              <c:numCache>
                <c:formatCode>General</c:formatCode>
                <c:ptCount val="10"/>
                <c:pt idx="0">
                  <c:v>103</c:v>
                </c:pt>
                <c:pt idx="1">
                  <c:v>117</c:v>
                </c:pt>
                <c:pt idx="2">
                  <c:v>30</c:v>
                </c:pt>
                <c:pt idx="3">
                  <c:v>30</c:v>
                </c:pt>
                <c:pt idx="4">
                  <c:v>37</c:v>
                </c:pt>
                <c:pt idx="5">
                  <c:v>73</c:v>
                </c:pt>
                <c:pt idx="6">
                  <c:v>241</c:v>
                </c:pt>
                <c:pt idx="7">
                  <c:v>35</c:v>
                </c:pt>
                <c:pt idx="8">
                  <c:v>12</c:v>
                </c:pt>
                <c:pt idx="9">
                  <c:v>7</c:v>
                </c:pt>
              </c:numCache>
            </c:numRef>
          </c:val>
        </c:ser>
        <c:ser>
          <c:idx val="1"/>
          <c:order val="1"/>
          <c:tx>
            <c:strRef>
              <c:f>'[7月拆机回收率（截至8.6） - 新规则.xlsx]Sheet1'!$A$39</c:f>
              <c:strCache>
                <c:ptCount val="1"/>
                <c:pt idx="0">
                  <c:v>摄像头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F09046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新规则.xlsx]Sheet1'!$B$37:$K$37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新规则.xlsx]Sheet1'!$B$39:$K$39</c:f>
              <c:numCache>
                <c:formatCode>General</c:formatCode>
                <c:ptCount val="10"/>
                <c:pt idx="0">
                  <c:v>11</c:v>
                </c:pt>
                <c:pt idx="1">
                  <c:v>103</c:v>
                </c:pt>
                <c:pt idx="3">
                  <c:v>23</c:v>
                </c:pt>
                <c:pt idx="4">
                  <c:v>5</c:v>
                </c:pt>
                <c:pt idx="5">
                  <c:v>15</c:v>
                </c:pt>
                <c:pt idx="6">
                  <c:v>120</c:v>
                </c:pt>
                <c:pt idx="9">
                  <c:v>1</c:v>
                </c:pt>
              </c:numCache>
            </c:numRef>
          </c:val>
        </c:ser>
        <c:ser>
          <c:idx val="2"/>
          <c:order val="2"/>
          <c:tx>
            <c:strRef>
              <c:f>'[7月拆机回收率（截至8.6） - 新规则.xlsx]Sheet1'!$A$40</c:f>
              <c:strCache>
                <c:ptCount val="1"/>
                <c:pt idx="0">
                  <c:v>FTTO</c:v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F4C1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新规则.xlsx]Sheet1'!$B$37:$K$37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新规则.xlsx]Sheet1'!$B$40:$K$40</c:f>
              <c:numCache>
                <c:formatCode>General</c:formatCode>
                <c:ptCount val="10"/>
                <c:pt idx="0">
                  <c:v>12</c:v>
                </c:pt>
                <c:pt idx="1">
                  <c:v>29</c:v>
                </c:pt>
                <c:pt idx="2">
                  <c:v>16</c:v>
                </c:pt>
                <c:pt idx="3">
                  <c:v>2</c:v>
                </c:pt>
                <c:pt idx="5">
                  <c:v>15</c:v>
                </c:pt>
                <c:pt idx="6">
                  <c:v>60</c:v>
                </c:pt>
                <c:pt idx="7">
                  <c:v>15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</c:ser>
        <c:ser>
          <c:idx val="3"/>
          <c:order val="3"/>
          <c:tx>
            <c:strRef>
              <c:f>'[7月拆机回收率（截至8.6） - 新规则.xlsx]Sheet1'!$A$41</c:f>
              <c:strCache>
                <c:ptCount val="1"/>
                <c:pt idx="0">
                  <c:v>WIFI路由器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90000">
                  <a:schemeClr val="accent4"/>
                </a:gs>
              </a:gsLst>
              <a:lin ang="5400000" scaled="0"/>
            </a:gradFill>
            <a:ln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4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92CB69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新规则.xlsx]Sheet1'!$B$37:$K$37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新规则.xlsx]Sheet1'!$B$41:$K$41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4">
                  <c:v>2</c:v>
                </c:pt>
                <c:pt idx="5">
                  <c:v>22</c:v>
                </c:pt>
                <c:pt idx="6">
                  <c:v>5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</c:ser>
        <c:ser>
          <c:idx val="4"/>
          <c:order val="4"/>
          <c:tx>
            <c:strRef>
              <c:f>'[7月拆机回收率（截至8.6） - 新规则.xlsx]Sheet1'!$A$42</c:f>
              <c:strCache>
                <c:ptCount val="1"/>
                <c:pt idx="0">
                  <c:v>专线卫士</c:v>
                </c:pt>
              </c:strCache>
            </c:strRef>
          </c:tx>
          <c:spPr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90000">
                  <a:schemeClr val="accent5"/>
                </a:gs>
              </a:gsLst>
              <a:lin ang="5400000" scaled="0"/>
            </a:gradFill>
            <a:ln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75000"/>
                    </a:schemeClr>
                  </a:gs>
                </a:gsLst>
                <a:lin ang="5160000" scaled="1"/>
              </a:gradFill>
            </a:ln>
            <a:effectLst>
              <a:outerShdw blurRad="76200" dist="25400" dir="2700000" algn="tl" rotWithShape="0">
                <a:schemeClr val="accent5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53CBC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'[7月拆机回收率（截至8.6） - 新规则.xlsx]Sheet1'!$B$37:$K$37</c:f>
              <c:strCache>
                <c:ptCount val="10"/>
                <c:pt idx="0">
                  <c:v>嘉禾</c:v>
                </c:pt>
                <c:pt idx="1">
                  <c:v>金东</c:v>
                </c:pt>
                <c:pt idx="2">
                  <c:v>黄岩</c:v>
                </c:pt>
                <c:pt idx="3">
                  <c:v>兰溪</c:v>
                </c:pt>
                <c:pt idx="4">
                  <c:v>普陀</c:v>
                </c:pt>
                <c:pt idx="5">
                  <c:v>西湖</c:v>
                </c:pt>
                <c:pt idx="6">
                  <c:v>义乌</c:v>
                </c:pt>
                <c:pt idx="7">
                  <c:v>东阳</c:v>
                </c:pt>
                <c:pt idx="8">
                  <c:v>莲都</c:v>
                </c:pt>
                <c:pt idx="9">
                  <c:v>洞头</c:v>
                </c:pt>
              </c:strCache>
            </c:strRef>
          </c:cat>
          <c:val>
            <c:numRef>
              <c:f>'[7月拆机回收率（截至8.6） - 新规则.xlsx]Sheet1'!$B$42:$K$42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7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984310067"/>
        <c:axId val="308837851"/>
      </c:barChart>
      <c:catAx>
        <c:axId val="98431006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8837851"/>
        <c:crosses val="autoZero"/>
        <c:auto val="1"/>
        <c:lblAlgn val="ctr"/>
        <c:lblOffset val="100"/>
        <c:noMultiLvlLbl val="0"/>
      </c:catAx>
      <c:valAx>
        <c:axId val="3088378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43100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5d63db2-d3eb-4474-a703-489be14fb2d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3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>
      <cs:styleClr val="auto"/>
    </cs:effectRef>
    <cs:fontRef idx="minor">
      <a:schemeClr val="tx1"/>
    </cs:fontRef>
    <cs:spPr>
      <a:ln w="28575" cap="rnd">
        <a:solidFill>
          <a:schemeClr val="phClr"/>
        </a:solidFill>
        <a:round/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3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>
      <cs:styleClr val="auto"/>
    </cs:effectRef>
    <cs:fontRef idx="minor">
      <a:schemeClr val="tx1"/>
    </cs:fontRef>
    <cs:spPr>
      <a:ln w="28575" cap="rnd">
        <a:solidFill>
          <a:schemeClr val="phClr"/>
        </a:solidFill>
        <a:round/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3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>
      <cs:styleClr val="auto"/>
    </cs:effectRef>
    <cs:fontRef idx="minor">
      <a:schemeClr val="tx1"/>
    </cs:fontRef>
    <cs:spPr>
      <a:ln w="28575" cap="rnd">
        <a:solidFill>
          <a:schemeClr val="phClr"/>
        </a:solidFill>
        <a:round/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4D3F9-31AE-49F5-968C-F67D9BDFC9E5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85914-3549-48AE-A39D-879B53B6F8BC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1EA1392D-13F9-4764-AB4D-1FEC223FB4E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9782" y="744538"/>
            <a:ext cx="661811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28E642D4-3443-499E-AFDA-8D6FF8F2ED7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642D4-3443-499E-AFDA-8D6FF8F2ED7D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488" y="744538"/>
            <a:ext cx="6616700" cy="3722687"/>
          </a:xfrm>
          <a:ln>
            <a:miter lim="800000"/>
          </a:ln>
        </p:spPr>
      </p:sp>
      <p:sp>
        <p:nvSpPr>
          <p:cNvPr id="768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68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0F2CDAD-A797-46CC-9A83-27082885ECBE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488" y="744538"/>
            <a:ext cx="6616700" cy="3722687"/>
          </a:xfrm>
          <a:ln>
            <a:miter lim="800000"/>
          </a:ln>
        </p:spPr>
      </p:sp>
      <p:sp>
        <p:nvSpPr>
          <p:cNvPr id="768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68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0F2CDAD-A797-46CC-9A83-27082885ECBE}" type="slidenum">
              <a:rPr lang="zh-CN" altLang="en-US" smtClean="0">
                <a:latin typeface="Calibri" panose="020F0502020204030204" pitchFamily="34" charset="0"/>
              </a:rPr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9000" y="116632"/>
            <a:ext cx="10177131" cy="494928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模板-0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E61F-478C-4005-9DC0-1675DF7CA91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8E61F-478C-4005-9DC0-1675DF7CA91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ppt模板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11664951" y="6608763"/>
            <a:ext cx="527049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AA2A9B57-68F7-4294-89A6-5F24A6EE8C5E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43339" y="44624"/>
            <a:ext cx="10177131" cy="494928"/>
          </a:xfrm>
        </p:spPr>
        <p:txBody>
          <a:bodyPr>
            <a:normAutofit/>
          </a:bodyPr>
          <a:lstStyle>
            <a:lvl1pPr algn="l">
              <a:defRPr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328" y="125760"/>
            <a:ext cx="10177131" cy="494928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showMasterSp="0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676063" y="6494463"/>
            <a:ext cx="412750" cy="317500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C06B4F-5C0A-4FF8-8880-BE636FCFFC4E}" type="slidenum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2"/>
          <p:cNvSpPr txBox="1">
            <a:spLocks noChangeArrowheads="1"/>
          </p:cNvSpPr>
          <p:nvPr userDrawn="1"/>
        </p:nvSpPr>
        <p:spPr bwMode="auto">
          <a:xfrm>
            <a:off x="11584940" y="652875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B0E814-B1E7-4BAE-ACDD-BDF23E0EDB6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9BBB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rcRect l="307" t="204" b="90407"/>
          <a:stretch>
            <a:fillRect/>
          </a:stretch>
        </p:blipFill>
        <p:spPr>
          <a:xfrm>
            <a:off x="635" y="1270"/>
            <a:ext cx="12191365" cy="643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2" cy="325282"/>
          </a:xfrm>
          <a:prstGeom prst="rect">
            <a:avLst/>
          </a:prstGeom>
          <a:noFill/>
        </p:spPr>
        <p:txBody>
          <a:bodyPr wrap="square" lIns="108825" tIns="54412" rIns="108825" bIns="54412" rtlCol="0">
            <a:spAutoFit/>
          </a:bodyPr>
          <a:lstStyle/>
          <a:p>
            <a:pPr algn="r"/>
            <a:fld id="{24173ED6-4A69-4FA8-8A09-51FC87ACF5D8}" type="slidenum">
              <a:rPr lang="zh-CN" altLang="en-US" sz="14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2" cy="325282"/>
          </a:xfrm>
          <a:prstGeom prst="rect">
            <a:avLst/>
          </a:prstGeom>
          <a:noFill/>
        </p:spPr>
        <p:txBody>
          <a:bodyPr wrap="square" lIns="108825" tIns="54412" rIns="108825" bIns="54412" rtlCol="0">
            <a:spAutoFit/>
          </a:bodyPr>
          <a:lstStyle/>
          <a:p>
            <a:pPr algn="r"/>
            <a:fld id="{24173ED6-4A69-4FA8-8A09-51FC87ACF5D8}" type="slidenum">
              <a:rPr lang="zh-CN" altLang="en-US" sz="140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738293" y="2284096"/>
            <a:ext cx="586740" cy="305435"/>
          </a:xfrm>
          <a:prstGeom prst="rect">
            <a:avLst/>
          </a:prstGeom>
          <a:solidFill>
            <a:srgbClr val="118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7" name="矩形 6"/>
          <p:cNvSpPr/>
          <p:nvPr userDrawn="1"/>
        </p:nvSpPr>
        <p:spPr>
          <a:xfrm>
            <a:off x="-738293" y="2778761"/>
            <a:ext cx="586740" cy="305435"/>
          </a:xfrm>
          <a:prstGeom prst="rect">
            <a:avLst/>
          </a:prstGeom>
          <a:solidFill>
            <a:srgbClr val="88D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25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738293" y="3290571"/>
            <a:ext cx="585893" cy="344805"/>
          </a:xfrm>
          <a:prstGeom prst="rect">
            <a:avLst/>
          </a:prstGeom>
          <a:solidFill>
            <a:srgbClr val="1184CF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-738293" y="3767456"/>
            <a:ext cx="585893" cy="344805"/>
          </a:xfrm>
          <a:prstGeom prst="rect">
            <a:avLst/>
          </a:prstGeom>
          <a:solidFill>
            <a:srgbClr val="88DB29">
              <a:alpha val="25000"/>
            </a:srgbClr>
          </a:solidFill>
          <a:ln w="9525">
            <a:noFill/>
          </a:ln>
        </p:spPr>
        <p:txBody>
          <a:bodyPr wrap="square" anchor="ctr" anchorCtr="0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charset="0"/>
              <a:buNone/>
            </a:pPr>
            <a:endParaRPr lang="zh-CN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27647" y="382472"/>
            <a:ext cx="10972800" cy="599665"/>
          </a:xfrm>
          <a:prstGeom prst="rect">
            <a:avLst/>
          </a:prstGeom>
        </p:spPr>
        <p:txBody>
          <a:bodyPr/>
          <a:lstStyle>
            <a:lvl1pPr>
              <a:defRPr sz="1865" b="1">
                <a:solidFill>
                  <a:srgbClr val="1184C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泪滴形 12"/>
          <p:cNvSpPr/>
          <p:nvPr userDrawn="1"/>
        </p:nvSpPr>
        <p:spPr>
          <a:xfrm rot="18714660">
            <a:off x="11802926" y="6405481"/>
            <a:ext cx="285267" cy="278911"/>
          </a:xfrm>
          <a:prstGeom prst="teardrop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1731866" y="6400993"/>
            <a:ext cx="412749" cy="423333"/>
          </a:xfrm>
          <a:prstGeom prst="rect">
            <a:avLst/>
          </a:prstGeom>
          <a:noFill/>
          <a:ln>
            <a:noFill/>
          </a:ln>
        </p:spPr>
        <p:txBody>
          <a:bodyPr lIns="78382" tIns="39191" rIns="78382" bIns="39191"/>
          <a:lstStyle/>
          <a:p>
            <a:pPr algn="ctr">
              <a:defRPr/>
            </a:pPr>
            <a:fld id="{083AA7C1-1891-49BD-9179-A0E53E88FB77}" type="slidenum">
              <a:rPr lang="zh-CN" altLang="en-US" sz="9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en-US" altLang="zh-CN" sz="65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27647" y="1064896"/>
            <a:ext cx="11536707" cy="1219200"/>
          </a:xfrm>
          <a:prstGeom prst="rect">
            <a:avLst/>
          </a:prstGeom>
        </p:spPr>
        <p:txBody>
          <a:bodyPr/>
          <a:lstStyle>
            <a:lvl1pPr marL="241300" indent="-241300">
              <a:lnSpc>
                <a:spcPct val="120000"/>
              </a:lnSpc>
              <a:spcBef>
                <a:spcPts val="400"/>
              </a:spcBef>
              <a:buFontTx/>
              <a:buChar char="‒"/>
              <a:defRPr sz="1465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37" r="40465"/>
          <a:stretch>
            <a:fillRect/>
          </a:stretch>
        </p:blipFill>
        <p:spPr>
          <a:xfrm>
            <a:off x="0" y="4125432"/>
            <a:ext cx="7258493" cy="2730664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9300767" y="52360"/>
            <a:ext cx="2843421" cy="897904"/>
            <a:chOff x="322377" y="128913"/>
            <a:chExt cx="3227035" cy="1067978"/>
          </a:xfrm>
        </p:grpSpPr>
        <p:pic>
          <p:nvPicPr>
            <p:cNvPr id="22" name="图片 21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/>
          <p:cNvPicPr/>
          <p:nvPr userDrawn="1"/>
        </p:nvPicPr>
        <p:blipFill rotWithShape="1">
          <a:blip r:embed="rId2" cstate="print"/>
          <a:srcRect l="55372" t="38171"/>
          <a:stretch>
            <a:fillRect/>
          </a:stretch>
        </p:blipFill>
        <p:spPr>
          <a:xfrm>
            <a:off x="8060856" y="2778525"/>
            <a:ext cx="4114800" cy="4079475"/>
          </a:xfrm>
          <a:prstGeom prst="rect">
            <a:avLst/>
          </a:prstGeom>
        </p:spPr>
      </p:pic>
      <p:pic>
        <p:nvPicPr>
          <p:cNvPr id="4" name="object 5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839200" y="163620"/>
            <a:ext cx="2226679" cy="884131"/>
          </a:xfrm>
          <a:prstGeom prst="rect">
            <a:avLst/>
          </a:prstGeom>
        </p:spPr>
      </p:pic>
      <p:pic>
        <p:nvPicPr>
          <p:cNvPr id="5" name="object 6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744200" y="0"/>
            <a:ext cx="1295437" cy="928117"/>
          </a:xfrm>
          <a:prstGeom prst="rect">
            <a:avLst/>
          </a:prstGeom>
        </p:spPr>
      </p:pic>
      <p:pic>
        <p:nvPicPr>
          <p:cNvPr id="6" name="object 4"/>
          <p:cNvPicPr/>
          <p:nvPr userDrawn="1"/>
        </p:nvPicPr>
        <p:blipFill rotWithShape="1">
          <a:blip r:embed="rId2" cstate="print"/>
          <a:srcRect t="-289" r="53640" b="-1"/>
          <a:stretch>
            <a:fillRect/>
          </a:stretch>
        </p:blipFill>
        <p:spPr>
          <a:xfrm>
            <a:off x="0" y="0"/>
            <a:ext cx="4114800" cy="65979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3C8E61F-478C-4005-9DC0-1675DF7CA911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1535104" y="6444044"/>
            <a:ext cx="492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0C913308-F349-4B6D-A68A-DD1791B4A57B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9.png"/><Relationship Id="rId2" Type="http://schemas.openxmlformats.org/officeDocument/2006/relationships/tags" Target="../tags/tag2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7"/>
          <p:cNvSpPr>
            <a:spLocks noGrp="1"/>
          </p:cNvSpPr>
          <p:nvPr>
            <p:ph type="title"/>
          </p:nvPr>
        </p:nvSpPr>
        <p:spPr>
          <a:xfrm>
            <a:off x="0" y="45295"/>
            <a:ext cx="9116254" cy="464400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+mn-ea"/>
                <a:cs typeface="+mn-ea"/>
                <a:sym typeface="+mn-lt"/>
              </a:rPr>
              <a:t>目   录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sp>
        <p:nvSpPr>
          <p:cNvPr id="10" name="MH_Number_2"/>
          <p:cNvSpPr txBox="1"/>
          <p:nvPr>
            <p:custDataLst>
              <p:tags r:id="rId1"/>
            </p:custDataLst>
          </p:nvPr>
        </p:nvSpPr>
        <p:spPr>
          <a:xfrm rot="18958671">
            <a:off x="3419899" y="1688076"/>
            <a:ext cx="780296" cy="4868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2800" b="1">
                <a:solidFill>
                  <a:schemeClr val="accent2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+mn-ea"/>
                <a:cs typeface="+mn-ea"/>
                <a:sym typeface="+mn-lt"/>
              </a:rPr>
              <a:t>01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+mn-ea"/>
              <a:cs typeface="+mn-ea"/>
              <a:sym typeface="+mn-lt"/>
            </a:endParaRPr>
          </a:p>
        </p:txBody>
      </p:sp>
      <p:pic>
        <p:nvPicPr>
          <p:cNvPr id="11" name="MH_Others_4" descr="D:\图表研究院\阴影图\阴影图\Type 3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20608">
            <a:off x="2946467" y="1511977"/>
            <a:ext cx="1830325" cy="84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H_Number_2"/>
          <p:cNvSpPr txBox="1"/>
          <p:nvPr>
            <p:custDataLst>
              <p:tags r:id="rId4"/>
            </p:custDataLst>
          </p:nvPr>
        </p:nvSpPr>
        <p:spPr>
          <a:xfrm rot="18958671">
            <a:off x="3420071" y="2595371"/>
            <a:ext cx="780296" cy="4868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2800" b="1">
                <a:solidFill>
                  <a:schemeClr val="accent2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+mn-ea"/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+mn-ea"/>
              <a:cs typeface="+mn-ea"/>
              <a:sym typeface="+mn-lt"/>
            </a:endParaRPr>
          </a:p>
        </p:txBody>
      </p:sp>
      <p:sp>
        <p:nvSpPr>
          <p:cNvPr id="4" name="MH_Entry_2"/>
          <p:cNvSpPr/>
          <p:nvPr>
            <p:custDataLst>
              <p:tags r:id="rId5"/>
            </p:custDataLst>
          </p:nvPr>
        </p:nvSpPr>
        <p:spPr bwMode="auto">
          <a:xfrm>
            <a:off x="3995420" y="1773555"/>
            <a:ext cx="4649470" cy="513715"/>
          </a:xfrm>
          <a:custGeom>
            <a:avLst/>
            <a:gdLst>
              <a:gd name="T0" fmla="*/ 2974 w 2974"/>
              <a:gd name="T1" fmla="*/ 359 h 359"/>
              <a:gd name="T2" fmla="*/ 0 w 2974"/>
              <a:gd name="T3" fmla="*/ 359 h 359"/>
              <a:gd name="T4" fmla="*/ 408 w 2974"/>
              <a:gd name="T5" fmla="*/ 0 h 359"/>
              <a:gd name="T6" fmla="*/ 2974 w 2974"/>
              <a:gd name="T7" fmla="*/ 0 h 359"/>
              <a:gd name="T8" fmla="*/ 2732 w 2974"/>
              <a:gd name="T9" fmla="*/ 173 h 359"/>
              <a:gd name="T10" fmla="*/ 2974 w 2974"/>
              <a:gd name="T11" fmla="*/ 359 h 359"/>
              <a:gd name="connsiteX0" fmla="*/ 10000 w 10768"/>
              <a:gd name="connsiteY0" fmla="*/ 10000 h 10000"/>
              <a:gd name="connsiteX1" fmla="*/ 0 w 10768"/>
              <a:gd name="connsiteY1" fmla="*/ 10000 h 10000"/>
              <a:gd name="connsiteX2" fmla="*/ 1372 w 10768"/>
              <a:gd name="connsiteY2" fmla="*/ 0 h 10000"/>
              <a:gd name="connsiteX3" fmla="*/ 10000 w 10768"/>
              <a:gd name="connsiteY3" fmla="*/ 0 h 10000"/>
              <a:gd name="connsiteX4" fmla="*/ 10768 w 10768"/>
              <a:gd name="connsiteY4" fmla="*/ 4819 h 10000"/>
              <a:gd name="connsiteX5" fmla="*/ 10000 w 10768"/>
              <a:gd name="connsiteY5" fmla="*/ 10000 h 10000"/>
              <a:gd name="connsiteX0-1" fmla="*/ 10000 w 10784"/>
              <a:gd name="connsiteY0-2" fmla="*/ 10000 h 10000"/>
              <a:gd name="connsiteX1-3" fmla="*/ 0 w 10784"/>
              <a:gd name="connsiteY1-4" fmla="*/ 10000 h 10000"/>
              <a:gd name="connsiteX2-5" fmla="*/ 1372 w 10784"/>
              <a:gd name="connsiteY2-6" fmla="*/ 0 h 10000"/>
              <a:gd name="connsiteX3-7" fmla="*/ 10000 w 10784"/>
              <a:gd name="connsiteY3-8" fmla="*/ 0 h 10000"/>
              <a:gd name="connsiteX4-9" fmla="*/ 10784 w 10784"/>
              <a:gd name="connsiteY4-10" fmla="*/ 4685 h 10000"/>
              <a:gd name="connsiteX5-11" fmla="*/ 10000 w 10784"/>
              <a:gd name="connsiteY5-12" fmla="*/ 10000 h 10000"/>
              <a:gd name="connsiteX0-13" fmla="*/ 10000 w 10784"/>
              <a:gd name="connsiteY0-14" fmla="*/ 10347 h 10347"/>
              <a:gd name="connsiteX1-15" fmla="*/ 0 w 10784"/>
              <a:gd name="connsiteY1-16" fmla="*/ 10347 h 10347"/>
              <a:gd name="connsiteX2-17" fmla="*/ 1198 w 10784"/>
              <a:gd name="connsiteY2-18" fmla="*/ 0 h 10347"/>
              <a:gd name="connsiteX3-19" fmla="*/ 10000 w 10784"/>
              <a:gd name="connsiteY3-20" fmla="*/ 347 h 10347"/>
              <a:gd name="connsiteX4-21" fmla="*/ 10784 w 10784"/>
              <a:gd name="connsiteY4-22" fmla="*/ 5032 h 10347"/>
              <a:gd name="connsiteX5-23" fmla="*/ 10000 w 10784"/>
              <a:gd name="connsiteY5-24" fmla="*/ 10347 h 10347"/>
              <a:gd name="connsiteX0-25" fmla="*/ 10000 w 10784"/>
              <a:gd name="connsiteY0-26" fmla="*/ 10347 h 10347"/>
              <a:gd name="connsiteX1-27" fmla="*/ 0 w 10784"/>
              <a:gd name="connsiteY1-28" fmla="*/ 10347 h 10347"/>
              <a:gd name="connsiteX2-29" fmla="*/ 1173 w 10784"/>
              <a:gd name="connsiteY2-30" fmla="*/ 0 h 10347"/>
              <a:gd name="connsiteX3-31" fmla="*/ 10000 w 10784"/>
              <a:gd name="connsiteY3-32" fmla="*/ 347 h 10347"/>
              <a:gd name="connsiteX4-33" fmla="*/ 10784 w 10784"/>
              <a:gd name="connsiteY4-34" fmla="*/ 5032 h 10347"/>
              <a:gd name="connsiteX5-35" fmla="*/ 10000 w 10784"/>
              <a:gd name="connsiteY5-36" fmla="*/ 10347 h 10347"/>
              <a:gd name="connsiteX0-37" fmla="*/ 10000 w 10784"/>
              <a:gd name="connsiteY0-38" fmla="*/ 10000 h 10000"/>
              <a:gd name="connsiteX1-39" fmla="*/ 0 w 10784"/>
              <a:gd name="connsiteY1-40" fmla="*/ 10000 h 10000"/>
              <a:gd name="connsiteX2-41" fmla="*/ 1161 w 10784"/>
              <a:gd name="connsiteY2-42" fmla="*/ 0 h 10000"/>
              <a:gd name="connsiteX3-43" fmla="*/ 10000 w 10784"/>
              <a:gd name="connsiteY3-44" fmla="*/ 0 h 10000"/>
              <a:gd name="connsiteX4-45" fmla="*/ 10784 w 10784"/>
              <a:gd name="connsiteY4-46" fmla="*/ 4685 h 10000"/>
              <a:gd name="connsiteX5-47" fmla="*/ 10000 w 10784"/>
              <a:gd name="connsiteY5-48" fmla="*/ 10000 h 10000"/>
              <a:gd name="connsiteX0-49" fmla="*/ 10000 w 10784"/>
              <a:gd name="connsiteY0-50" fmla="*/ 10000 h 10000"/>
              <a:gd name="connsiteX1-51" fmla="*/ 0 w 10784"/>
              <a:gd name="connsiteY1-52" fmla="*/ 10000 h 10000"/>
              <a:gd name="connsiteX2-53" fmla="*/ 1244 w 10784"/>
              <a:gd name="connsiteY2-54" fmla="*/ 0 h 10000"/>
              <a:gd name="connsiteX3-55" fmla="*/ 10000 w 10784"/>
              <a:gd name="connsiteY3-56" fmla="*/ 0 h 10000"/>
              <a:gd name="connsiteX4-57" fmla="*/ 10784 w 10784"/>
              <a:gd name="connsiteY4-58" fmla="*/ 4685 h 10000"/>
              <a:gd name="connsiteX5-59" fmla="*/ 10000 w 10784"/>
              <a:gd name="connsiteY5-60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784" h="10000">
                <a:moveTo>
                  <a:pt x="10000" y="10000"/>
                </a:moveTo>
                <a:lnTo>
                  <a:pt x="0" y="10000"/>
                </a:lnTo>
                <a:lnTo>
                  <a:pt x="1244" y="0"/>
                </a:lnTo>
                <a:lnTo>
                  <a:pt x="10000" y="0"/>
                </a:lnTo>
                <a:lnTo>
                  <a:pt x="10784" y="4685"/>
                </a:lnTo>
                <a:lnTo>
                  <a:pt x="10000" y="10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288000" tIns="0" rIns="216000" bIns="0" numCol="1" anchor="ctr" anchorCtr="0" compatLnSpc="1">
            <a:norm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2200" b="1" dirty="0">
                <a:solidFill>
                  <a:srgbClr val="FFFFFF"/>
                </a:solidFill>
                <a:latin typeface="微软雅黑" panose="020B0503020204020204" pitchFamily="34" charset="-122"/>
                <a:cs typeface="+mn-ea"/>
                <a:sym typeface="+mn-lt"/>
              </a:rPr>
              <a:t>业务发展情况</a:t>
            </a:r>
            <a:endParaRPr lang="zh-CN" altLang="en-US" sz="2200" b="1" dirty="0">
              <a:solidFill>
                <a:srgbClr val="FFFFFF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503930" y="1845310"/>
            <a:ext cx="5114290" cy="1830070"/>
            <a:chOff x="5309" y="4198"/>
            <a:chExt cx="8054" cy="2882"/>
          </a:xfrm>
        </p:grpSpPr>
        <p:pic>
          <p:nvPicPr>
            <p:cNvPr id="9" name="MH_Others_4" descr="D:\图表研究院\阴影图\阴影图\Type 3.pn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20608">
              <a:off x="4535" y="4971"/>
              <a:ext cx="2882" cy="1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MH_Entry_2"/>
            <p:cNvSpPr/>
            <p:nvPr>
              <p:custDataLst>
                <p:tags r:id="rId7"/>
              </p:custDataLst>
            </p:nvPr>
          </p:nvSpPr>
          <p:spPr bwMode="auto">
            <a:xfrm>
              <a:off x="6028" y="5418"/>
              <a:ext cx="7335" cy="809"/>
            </a:xfrm>
            <a:custGeom>
              <a:avLst/>
              <a:gdLst>
                <a:gd name="T0" fmla="*/ 2974 w 2974"/>
                <a:gd name="T1" fmla="*/ 359 h 359"/>
                <a:gd name="T2" fmla="*/ 0 w 2974"/>
                <a:gd name="T3" fmla="*/ 359 h 359"/>
                <a:gd name="T4" fmla="*/ 408 w 2974"/>
                <a:gd name="T5" fmla="*/ 0 h 359"/>
                <a:gd name="T6" fmla="*/ 2974 w 2974"/>
                <a:gd name="T7" fmla="*/ 0 h 359"/>
                <a:gd name="T8" fmla="*/ 2732 w 2974"/>
                <a:gd name="T9" fmla="*/ 173 h 359"/>
                <a:gd name="T10" fmla="*/ 2974 w 2974"/>
                <a:gd name="T11" fmla="*/ 359 h 359"/>
                <a:gd name="connsiteX0" fmla="*/ 10000 w 10768"/>
                <a:gd name="connsiteY0" fmla="*/ 10000 h 10000"/>
                <a:gd name="connsiteX1" fmla="*/ 0 w 10768"/>
                <a:gd name="connsiteY1" fmla="*/ 10000 h 10000"/>
                <a:gd name="connsiteX2" fmla="*/ 1372 w 10768"/>
                <a:gd name="connsiteY2" fmla="*/ 0 h 10000"/>
                <a:gd name="connsiteX3" fmla="*/ 10000 w 10768"/>
                <a:gd name="connsiteY3" fmla="*/ 0 h 10000"/>
                <a:gd name="connsiteX4" fmla="*/ 10768 w 10768"/>
                <a:gd name="connsiteY4" fmla="*/ 4819 h 10000"/>
                <a:gd name="connsiteX5" fmla="*/ 10000 w 10768"/>
                <a:gd name="connsiteY5" fmla="*/ 10000 h 10000"/>
                <a:gd name="connsiteX0-1" fmla="*/ 10000 w 10784"/>
                <a:gd name="connsiteY0-2" fmla="*/ 10000 h 10000"/>
                <a:gd name="connsiteX1-3" fmla="*/ 0 w 10784"/>
                <a:gd name="connsiteY1-4" fmla="*/ 10000 h 10000"/>
                <a:gd name="connsiteX2-5" fmla="*/ 1372 w 10784"/>
                <a:gd name="connsiteY2-6" fmla="*/ 0 h 10000"/>
                <a:gd name="connsiteX3-7" fmla="*/ 10000 w 10784"/>
                <a:gd name="connsiteY3-8" fmla="*/ 0 h 10000"/>
                <a:gd name="connsiteX4-9" fmla="*/ 10784 w 10784"/>
                <a:gd name="connsiteY4-10" fmla="*/ 4685 h 10000"/>
                <a:gd name="connsiteX5-11" fmla="*/ 10000 w 10784"/>
                <a:gd name="connsiteY5-12" fmla="*/ 10000 h 10000"/>
                <a:gd name="connsiteX0-13" fmla="*/ 10000 w 10784"/>
                <a:gd name="connsiteY0-14" fmla="*/ 10347 h 10347"/>
                <a:gd name="connsiteX1-15" fmla="*/ 0 w 10784"/>
                <a:gd name="connsiteY1-16" fmla="*/ 10347 h 10347"/>
                <a:gd name="connsiteX2-17" fmla="*/ 1198 w 10784"/>
                <a:gd name="connsiteY2-18" fmla="*/ 0 h 10347"/>
                <a:gd name="connsiteX3-19" fmla="*/ 10000 w 10784"/>
                <a:gd name="connsiteY3-20" fmla="*/ 347 h 10347"/>
                <a:gd name="connsiteX4-21" fmla="*/ 10784 w 10784"/>
                <a:gd name="connsiteY4-22" fmla="*/ 5032 h 10347"/>
                <a:gd name="connsiteX5-23" fmla="*/ 10000 w 10784"/>
                <a:gd name="connsiteY5-24" fmla="*/ 10347 h 10347"/>
                <a:gd name="connsiteX0-25" fmla="*/ 10000 w 10784"/>
                <a:gd name="connsiteY0-26" fmla="*/ 10347 h 10347"/>
                <a:gd name="connsiteX1-27" fmla="*/ 0 w 10784"/>
                <a:gd name="connsiteY1-28" fmla="*/ 10347 h 10347"/>
                <a:gd name="connsiteX2-29" fmla="*/ 1173 w 10784"/>
                <a:gd name="connsiteY2-30" fmla="*/ 0 h 10347"/>
                <a:gd name="connsiteX3-31" fmla="*/ 10000 w 10784"/>
                <a:gd name="connsiteY3-32" fmla="*/ 347 h 10347"/>
                <a:gd name="connsiteX4-33" fmla="*/ 10784 w 10784"/>
                <a:gd name="connsiteY4-34" fmla="*/ 5032 h 10347"/>
                <a:gd name="connsiteX5-35" fmla="*/ 10000 w 10784"/>
                <a:gd name="connsiteY5-36" fmla="*/ 10347 h 10347"/>
                <a:gd name="connsiteX0-37" fmla="*/ 10000 w 10784"/>
                <a:gd name="connsiteY0-38" fmla="*/ 10000 h 10000"/>
                <a:gd name="connsiteX1-39" fmla="*/ 0 w 10784"/>
                <a:gd name="connsiteY1-40" fmla="*/ 10000 h 10000"/>
                <a:gd name="connsiteX2-41" fmla="*/ 1161 w 10784"/>
                <a:gd name="connsiteY2-42" fmla="*/ 0 h 10000"/>
                <a:gd name="connsiteX3-43" fmla="*/ 10000 w 10784"/>
                <a:gd name="connsiteY3-44" fmla="*/ 0 h 10000"/>
                <a:gd name="connsiteX4-45" fmla="*/ 10784 w 10784"/>
                <a:gd name="connsiteY4-46" fmla="*/ 4685 h 10000"/>
                <a:gd name="connsiteX5-47" fmla="*/ 10000 w 10784"/>
                <a:gd name="connsiteY5-48" fmla="*/ 10000 h 10000"/>
                <a:gd name="connsiteX0-49" fmla="*/ 10000 w 10784"/>
                <a:gd name="connsiteY0-50" fmla="*/ 10000 h 10000"/>
                <a:gd name="connsiteX1-51" fmla="*/ 0 w 10784"/>
                <a:gd name="connsiteY1-52" fmla="*/ 10000 h 10000"/>
                <a:gd name="connsiteX2-53" fmla="*/ 1244 w 10784"/>
                <a:gd name="connsiteY2-54" fmla="*/ 0 h 10000"/>
                <a:gd name="connsiteX3-55" fmla="*/ 10000 w 10784"/>
                <a:gd name="connsiteY3-56" fmla="*/ 0 h 10000"/>
                <a:gd name="connsiteX4-57" fmla="*/ 10784 w 10784"/>
                <a:gd name="connsiteY4-58" fmla="*/ 4685 h 10000"/>
                <a:gd name="connsiteX5-59" fmla="*/ 10000 w 10784"/>
                <a:gd name="connsiteY5-60" fmla="*/ 1000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0784" h="10000">
                  <a:moveTo>
                    <a:pt x="10000" y="10000"/>
                  </a:moveTo>
                  <a:lnTo>
                    <a:pt x="0" y="10000"/>
                  </a:lnTo>
                  <a:lnTo>
                    <a:pt x="1244" y="0"/>
                  </a:lnTo>
                  <a:lnTo>
                    <a:pt x="10000" y="0"/>
                  </a:lnTo>
                  <a:lnTo>
                    <a:pt x="10784" y="4685"/>
                  </a:lnTo>
                  <a:lnTo>
                    <a:pt x="10000" y="1000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288000" tIns="0" rIns="216000" bIns="0" numCol="1" anchor="ctr" anchorCtr="0" compatLnSpc="1">
              <a:normAutofit/>
            </a:bodyPr>
            <a:lstStyle/>
            <a:p>
              <a:pPr lvl="0" algn="ct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专线自动情况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437890" y="2748915"/>
            <a:ext cx="5122545" cy="1830070"/>
            <a:chOff x="5342" y="3762"/>
            <a:chExt cx="8067" cy="2882"/>
          </a:xfrm>
        </p:grpSpPr>
        <p:pic>
          <p:nvPicPr>
            <p:cNvPr id="3" name="MH_Others_4" descr="D:\图表研究院\阴影图\阴影图\Type 3.png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20608">
              <a:off x="4568" y="4535"/>
              <a:ext cx="2882" cy="1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MH_Entry_2"/>
            <p:cNvSpPr/>
            <p:nvPr>
              <p:custDataLst>
                <p:tags r:id="rId9"/>
              </p:custDataLst>
            </p:nvPr>
          </p:nvSpPr>
          <p:spPr bwMode="auto">
            <a:xfrm>
              <a:off x="6074" y="4947"/>
              <a:ext cx="7335" cy="809"/>
            </a:xfrm>
            <a:custGeom>
              <a:avLst/>
              <a:gdLst>
                <a:gd name="T0" fmla="*/ 2974 w 2974"/>
                <a:gd name="T1" fmla="*/ 359 h 359"/>
                <a:gd name="T2" fmla="*/ 0 w 2974"/>
                <a:gd name="T3" fmla="*/ 359 h 359"/>
                <a:gd name="T4" fmla="*/ 408 w 2974"/>
                <a:gd name="T5" fmla="*/ 0 h 359"/>
                <a:gd name="T6" fmla="*/ 2974 w 2974"/>
                <a:gd name="T7" fmla="*/ 0 h 359"/>
                <a:gd name="T8" fmla="*/ 2732 w 2974"/>
                <a:gd name="T9" fmla="*/ 173 h 359"/>
                <a:gd name="T10" fmla="*/ 2974 w 2974"/>
                <a:gd name="T11" fmla="*/ 359 h 359"/>
                <a:gd name="connsiteX0" fmla="*/ 10000 w 10768"/>
                <a:gd name="connsiteY0" fmla="*/ 10000 h 10000"/>
                <a:gd name="connsiteX1" fmla="*/ 0 w 10768"/>
                <a:gd name="connsiteY1" fmla="*/ 10000 h 10000"/>
                <a:gd name="connsiteX2" fmla="*/ 1372 w 10768"/>
                <a:gd name="connsiteY2" fmla="*/ 0 h 10000"/>
                <a:gd name="connsiteX3" fmla="*/ 10000 w 10768"/>
                <a:gd name="connsiteY3" fmla="*/ 0 h 10000"/>
                <a:gd name="connsiteX4" fmla="*/ 10768 w 10768"/>
                <a:gd name="connsiteY4" fmla="*/ 4819 h 10000"/>
                <a:gd name="connsiteX5" fmla="*/ 10000 w 10768"/>
                <a:gd name="connsiteY5" fmla="*/ 10000 h 10000"/>
                <a:gd name="connsiteX0-1" fmla="*/ 10000 w 10784"/>
                <a:gd name="connsiteY0-2" fmla="*/ 10000 h 10000"/>
                <a:gd name="connsiteX1-3" fmla="*/ 0 w 10784"/>
                <a:gd name="connsiteY1-4" fmla="*/ 10000 h 10000"/>
                <a:gd name="connsiteX2-5" fmla="*/ 1372 w 10784"/>
                <a:gd name="connsiteY2-6" fmla="*/ 0 h 10000"/>
                <a:gd name="connsiteX3-7" fmla="*/ 10000 w 10784"/>
                <a:gd name="connsiteY3-8" fmla="*/ 0 h 10000"/>
                <a:gd name="connsiteX4-9" fmla="*/ 10784 w 10784"/>
                <a:gd name="connsiteY4-10" fmla="*/ 4685 h 10000"/>
                <a:gd name="connsiteX5-11" fmla="*/ 10000 w 10784"/>
                <a:gd name="connsiteY5-12" fmla="*/ 10000 h 10000"/>
                <a:gd name="connsiteX0-13" fmla="*/ 10000 w 10784"/>
                <a:gd name="connsiteY0-14" fmla="*/ 10347 h 10347"/>
                <a:gd name="connsiteX1-15" fmla="*/ 0 w 10784"/>
                <a:gd name="connsiteY1-16" fmla="*/ 10347 h 10347"/>
                <a:gd name="connsiteX2-17" fmla="*/ 1198 w 10784"/>
                <a:gd name="connsiteY2-18" fmla="*/ 0 h 10347"/>
                <a:gd name="connsiteX3-19" fmla="*/ 10000 w 10784"/>
                <a:gd name="connsiteY3-20" fmla="*/ 347 h 10347"/>
                <a:gd name="connsiteX4-21" fmla="*/ 10784 w 10784"/>
                <a:gd name="connsiteY4-22" fmla="*/ 5032 h 10347"/>
                <a:gd name="connsiteX5-23" fmla="*/ 10000 w 10784"/>
                <a:gd name="connsiteY5-24" fmla="*/ 10347 h 10347"/>
                <a:gd name="connsiteX0-25" fmla="*/ 10000 w 10784"/>
                <a:gd name="connsiteY0-26" fmla="*/ 10347 h 10347"/>
                <a:gd name="connsiteX1-27" fmla="*/ 0 w 10784"/>
                <a:gd name="connsiteY1-28" fmla="*/ 10347 h 10347"/>
                <a:gd name="connsiteX2-29" fmla="*/ 1173 w 10784"/>
                <a:gd name="connsiteY2-30" fmla="*/ 0 h 10347"/>
                <a:gd name="connsiteX3-31" fmla="*/ 10000 w 10784"/>
                <a:gd name="connsiteY3-32" fmla="*/ 347 h 10347"/>
                <a:gd name="connsiteX4-33" fmla="*/ 10784 w 10784"/>
                <a:gd name="connsiteY4-34" fmla="*/ 5032 h 10347"/>
                <a:gd name="connsiteX5-35" fmla="*/ 10000 w 10784"/>
                <a:gd name="connsiteY5-36" fmla="*/ 10347 h 10347"/>
                <a:gd name="connsiteX0-37" fmla="*/ 10000 w 10784"/>
                <a:gd name="connsiteY0-38" fmla="*/ 10000 h 10000"/>
                <a:gd name="connsiteX1-39" fmla="*/ 0 w 10784"/>
                <a:gd name="connsiteY1-40" fmla="*/ 10000 h 10000"/>
                <a:gd name="connsiteX2-41" fmla="*/ 1161 w 10784"/>
                <a:gd name="connsiteY2-42" fmla="*/ 0 h 10000"/>
                <a:gd name="connsiteX3-43" fmla="*/ 10000 w 10784"/>
                <a:gd name="connsiteY3-44" fmla="*/ 0 h 10000"/>
                <a:gd name="connsiteX4-45" fmla="*/ 10784 w 10784"/>
                <a:gd name="connsiteY4-46" fmla="*/ 4685 h 10000"/>
                <a:gd name="connsiteX5-47" fmla="*/ 10000 w 10784"/>
                <a:gd name="connsiteY5-48" fmla="*/ 10000 h 10000"/>
                <a:gd name="connsiteX0-49" fmla="*/ 10000 w 10784"/>
                <a:gd name="connsiteY0-50" fmla="*/ 10000 h 10000"/>
                <a:gd name="connsiteX1-51" fmla="*/ 0 w 10784"/>
                <a:gd name="connsiteY1-52" fmla="*/ 10000 h 10000"/>
                <a:gd name="connsiteX2-53" fmla="*/ 1244 w 10784"/>
                <a:gd name="connsiteY2-54" fmla="*/ 0 h 10000"/>
                <a:gd name="connsiteX3-55" fmla="*/ 10000 w 10784"/>
                <a:gd name="connsiteY3-56" fmla="*/ 0 h 10000"/>
                <a:gd name="connsiteX4-57" fmla="*/ 10784 w 10784"/>
                <a:gd name="connsiteY4-58" fmla="*/ 4685 h 10000"/>
                <a:gd name="connsiteX5-59" fmla="*/ 10000 w 10784"/>
                <a:gd name="connsiteY5-60" fmla="*/ 1000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0784" h="10000">
                  <a:moveTo>
                    <a:pt x="10000" y="10000"/>
                  </a:moveTo>
                  <a:lnTo>
                    <a:pt x="0" y="10000"/>
                  </a:lnTo>
                  <a:lnTo>
                    <a:pt x="1244" y="0"/>
                  </a:lnTo>
                  <a:lnTo>
                    <a:pt x="10000" y="0"/>
                  </a:lnTo>
                  <a:lnTo>
                    <a:pt x="10784" y="4685"/>
                  </a:lnTo>
                  <a:lnTo>
                    <a:pt x="10000" y="1000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288000" tIns="0" rIns="216000" bIns="0" numCol="1" anchor="ctr" anchorCtr="0" compatLnSpc="1">
              <a:normAutofit/>
            </a:bodyPr>
            <a:p>
              <a:pPr lvl="0" algn="ct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终端回收情况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MH_Number_2"/>
          <p:cNvSpPr txBox="1"/>
          <p:nvPr>
            <p:custDataLst>
              <p:tags r:id="rId10"/>
            </p:custDataLst>
          </p:nvPr>
        </p:nvSpPr>
        <p:spPr>
          <a:xfrm rot="18958671">
            <a:off x="3538181" y="3344036"/>
            <a:ext cx="780296" cy="4868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2800" b="1">
                <a:solidFill>
                  <a:schemeClr val="accent2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+mn-ea"/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+mn-ea"/>
              <a:cs typeface="+mn-ea"/>
              <a:sym typeface="+mn-lt"/>
            </a:endParaRPr>
          </a:p>
        </p:txBody>
      </p:sp>
      <p:sp>
        <p:nvSpPr>
          <p:cNvPr id="13" name="MH_Number_2"/>
          <p:cNvSpPr txBox="1"/>
          <p:nvPr>
            <p:custDataLst>
              <p:tags r:id="rId11"/>
            </p:custDataLst>
          </p:nvPr>
        </p:nvSpPr>
        <p:spPr>
          <a:xfrm rot="18958671">
            <a:off x="3491826" y="4243831"/>
            <a:ext cx="780296" cy="4868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2800" b="1">
                <a:solidFill>
                  <a:schemeClr val="accent2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+mn-ea"/>
                <a:cs typeface="+mn-ea"/>
                <a:sym typeface="+mn-lt"/>
              </a:rPr>
              <a:t>04</a:t>
            </a:r>
            <a:endParaRPr lang="zh-CN" altLang="en-US" sz="32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+mn-ea"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360420" y="3644900"/>
            <a:ext cx="5181600" cy="1830070"/>
            <a:chOff x="5342" y="3762"/>
            <a:chExt cx="8067" cy="2882"/>
          </a:xfrm>
        </p:grpSpPr>
        <p:pic>
          <p:nvPicPr>
            <p:cNvPr id="15" name="MH_Others_4" descr="D:\图表研究院\阴影图\阴影图\Type 3.png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20608">
              <a:off x="4568" y="4535"/>
              <a:ext cx="2882" cy="1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MH_Entry_2"/>
            <p:cNvSpPr/>
            <p:nvPr>
              <p:custDataLst>
                <p:tags r:id="rId13"/>
              </p:custDataLst>
            </p:nvPr>
          </p:nvSpPr>
          <p:spPr bwMode="auto">
            <a:xfrm>
              <a:off x="6074" y="4947"/>
              <a:ext cx="7335" cy="809"/>
            </a:xfrm>
            <a:custGeom>
              <a:avLst/>
              <a:gdLst>
                <a:gd name="T0" fmla="*/ 2974 w 2974"/>
                <a:gd name="T1" fmla="*/ 359 h 359"/>
                <a:gd name="T2" fmla="*/ 0 w 2974"/>
                <a:gd name="T3" fmla="*/ 359 h 359"/>
                <a:gd name="T4" fmla="*/ 408 w 2974"/>
                <a:gd name="T5" fmla="*/ 0 h 359"/>
                <a:gd name="T6" fmla="*/ 2974 w 2974"/>
                <a:gd name="T7" fmla="*/ 0 h 359"/>
                <a:gd name="T8" fmla="*/ 2732 w 2974"/>
                <a:gd name="T9" fmla="*/ 173 h 359"/>
                <a:gd name="T10" fmla="*/ 2974 w 2974"/>
                <a:gd name="T11" fmla="*/ 359 h 359"/>
                <a:gd name="connsiteX0" fmla="*/ 10000 w 10768"/>
                <a:gd name="connsiteY0" fmla="*/ 10000 h 10000"/>
                <a:gd name="connsiteX1" fmla="*/ 0 w 10768"/>
                <a:gd name="connsiteY1" fmla="*/ 10000 h 10000"/>
                <a:gd name="connsiteX2" fmla="*/ 1372 w 10768"/>
                <a:gd name="connsiteY2" fmla="*/ 0 h 10000"/>
                <a:gd name="connsiteX3" fmla="*/ 10000 w 10768"/>
                <a:gd name="connsiteY3" fmla="*/ 0 h 10000"/>
                <a:gd name="connsiteX4" fmla="*/ 10768 w 10768"/>
                <a:gd name="connsiteY4" fmla="*/ 4819 h 10000"/>
                <a:gd name="connsiteX5" fmla="*/ 10000 w 10768"/>
                <a:gd name="connsiteY5" fmla="*/ 10000 h 10000"/>
                <a:gd name="connsiteX0-1" fmla="*/ 10000 w 10784"/>
                <a:gd name="connsiteY0-2" fmla="*/ 10000 h 10000"/>
                <a:gd name="connsiteX1-3" fmla="*/ 0 w 10784"/>
                <a:gd name="connsiteY1-4" fmla="*/ 10000 h 10000"/>
                <a:gd name="connsiteX2-5" fmla="*/ 1372 w 10784"/>
                <a:gd name="connsiteY2-6" fmla="*/ 0 h 10000"/>
                <a:gd name="connsiteX3-7" fmla="*/ 10000 w 10784"/>
                <a:gd name="connsiteY3-8" fmla="*/ 0 h 10000"/>
                <a:gd name="connsiteX4-9" fmla="*/ 10784 w 10784"/>
                <a:gd name="connsiteY4-10" fmla="*/ 4685 h 10000"/>
                <a:gd name="connsiteX5-11" fmla="*/ 10000 w 10784"/>
                <a:gd name="connsiteY5-12" fmla="*/ 10000 h 10000"/>
                <a:gd name="connsiteX0-13" fmla="*/ 10000 w 10784"/>
                <a:gd name="connsiteY0-14" fmla="*/ 10347 h 10347"/>
                <a:gd name="connsiteX1-15" fmla="*/ 0 w 10784"/>
                <a:gd name="connsiteY1-16" fmla="*/ 10347 h 10347"/>
                <a:gd name="connsiteX2-17" fmla="*/ 1198 w 10784"/>
                <a:gd name="connsiteY2-18" fmla="*/ 0 h 10347"/>
                <a:gd name="connsiteX3-19" fmla="*/ 10000 w 10784"/>
                <a:gd name="connsiteY3-20" fmla="*/ 347 h 10347"/>
                <a:gd name="connsiteX4-21" fmla="*/ 10784 w 10784"/>
                <a:gd name="connsiteY4-22" fmla="*/ 5032 h 10347"/>
                <a:gd name="connsiteX5-23" fmla="*/ 10000 w 10784"/>
                <a:gd name="connsiteY5-24" fmla="*/ 10347 h 10347"/>
                <a:gd name="connsiteX0-25" fmla="*/ 10000 w 10784"/>
                <a:gd name="connsiteY0-26" fmla="*/ 10347 h 10347"/>
                <a:gd name="connsiteX1-27" fmla="*/ 0 w 10784"/>
                <a:gd name="connsiteY1-28" fmla="*/ 10347 h 10347"/>
                <a:gd name="connsiteX2-29" fmla="*/ 1173 w 10784"/>
                <a:gd name="connsiteY2-30" fmla="*/ 0 h 10347"/>
                <a:gd name="connsiteX3-31" fmla="*/ 10000 w 10784"/>
                <a:gd name="connsiteY3-32" fmla="*/ 347 h 10347"/>
                <a:gd name="connsiteX4-33" fmla="*/ 10784 w 10784"/>
                <a:gd name="connsiteY4-34" fmla="*/ 5032 h 10347"/>
                <a:gd name="connsiteX5-35" fmla="*/ 10000 w 10784"/>
                <a:gd name="connsiteY5-36" fmla="*/ 10347 h 10347"/>
                <a:gd name="connsiteX0-37" fmla="*/ 10000 w 10784"/>
                <a:gd name="connsiteY0-38" fmla="*/ 10000 h 10000"/>
                <a:gd name="connsiteX1-39" fmla="*/ 0 w 10784"/>
                <a:gd name="connsiteY1-40" fmla="*/ 10000 h 10000"/>
                <a:gd name="connsiteX2-41" fmla="*/ 1161 w 10784"/>
                <a:gd name="connsiteY2-42" fmla="*/ 0 h 10000"/>
                <a:gd name="connsiteX3-43" fmla="*/ 10000 w 10784"/>
                <a:gd name="connsiteY3-44" fmla="*/ 0 h 10000"/>
                <a:gd name="connsiteX4-45" fmla="*/ 10784 w 10784"/>
                <a:gd name="connsiteY4-46" fmla="*/ 4685 h 10000"/>
                <a:gd name="connsiteX5-47" fmla="*/ 10000 w 10784"/>
                <a:gd name="connsiteY5-48" fmla="*/ 10000 h 10000"/>
                <a:gd name="connsiteX0-49" fmla="*/ 10000 w 10784"/>
                <a:gd name="connsiteY0-50" fmla="*/ 10000 h 10000"/>
                <a:gd name="connsiteX1-51" fmla="*/ 0 w 10784"/>
                <a:gd name="connsiteY1-52" fmla="*/ 10000 h 10000"/>
                <a:gd name="connsiteX2-53" fmla="*/ 1244 w 10784"/>
                <a:gd name="connsiteY2-54" fmla="*/ 0 h 10000"/>
                <a:gd name="connsiteX3-55" fmla="*/ 10000 w 10784"/>
                <a:gd name="connsiteY3-56" fmla="*/ 0 h 10000"/>
                <a:gd name="connsiteX4-57" fmla="*/ 10784 w 10784"/>
                <a:gd name="connsiteY4-58" fmla="*/ 4685 h 10000"/>
                <a:gd name="connsiteX5-59" fmla="*/ 10000 w 10784"/>
                <a:gd name="connsiteY5-60" fmla="*/ 1000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0784" h="10000">
                  <a:moveTo>
                    <a:pt x="10000" y="10000"/>
                  </a:moveTo>
                  <a:lnTo>
                    <a:pt x="0" y="10000"/>
                  </a:lnTo>
                  <a:lnTo>
                    <a:pt x="1244" y="0"/>
                  </a:lnTo>
                  <a:lnTo>
                    <a:pt x="10000" y="0"/>
                  </a:lnTo>
                  <a:lnTo>
                    <a:pt x="10784" y="4685"/>
                  </a:lnTo>
                  <a:lnTo>
                    <a:pt x="10000" y="100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vert="horz" wrap="square" lIns="288000" tIns="0" rIns="216000" bIns="0" numCol="1" anchor="ctr" anchorCtr="0" compatLnSpc="1">
              <a:normAutofit/>
            </a:bodyPr>
            <a:p>
              <a:pPr lvl="0" algn="ctr"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业务支撑情况</a:t>
              </a:r>
              <a:endParaRPr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355" y="692785"/>
            <a:ext cx="11990705" cy="694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285750" indent="-285750" fontAlgn="auto">
              <a:lnSpc>
                <a:spcPts val="2000"/>
              </a:lnSpc>
              <a:buFont typeface="Wingdings" panose="05000000000000000000" charset="0"/>
              <a:buChar char="p"/>
              <a:defRPr/>
            </a:pP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终端回收（不含设备共用场景）</a:t>
            </a:r>
            <a:endParaRPr lang="zh-CN" altLang="en-US" sz="1400" b="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lnSpc>
                <a:spcPts val="2000"/>
              </a:lnSpc>
              <a:defRPr/>
            </a:pPr>
            <a:r>
              <a:rPr lang="en-US" altLang="zh-CN" sz="1200" b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      7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月全省拆机应回收设备数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17518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台，已拆机设备数</a:t>
            </a:r>
            <a:r>
              <a:rPr lang="en-US" sz="1200" b="0">
                <a:solidFill>
                  <a:schemeClr val="tx2"/>
                </a:solidFill>
                <a:sym typeface="+mn-ea"/>
              </a:rPr>
              <a:t>16275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台，全省终端回收率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92.90%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，</a:t>
            </a:r>
            <a:r>
              <a:rPr lang="zh-CN" altLang="en-US" sz="1200" b="0" dirty="0">
                <a:solidFill>
                  <a:srgbClr val="FF0000"/>
                </a:solidFill>
                <a:sym typeface="+mn-ea"/>
              </a:rPr>
              <a:t>台州、舟山、金华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排名靠后。</a:t>
            </a:r>
            <a:endParaRPr lang="zh-CN" altLang="en-US" sz="1200" b="0" noProof="1">
              <a:solidFill>
                <a:schemeClr val="tx2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1925" y="6309360"/>
            <a:ext cx="11541760" cy="372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终端回收率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拆机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设备回收单量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拆机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工单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竣工量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：后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TOP10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终端回收率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拆机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设备回收单量</a:t>
            </a:r>
            <a:r>
              <a:rPr lang="en-US" altLang="zh-CN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 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拆机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工单</a:t>
            </a:r>
            <a:r>
              <a:rPr lang="en-US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竣工量</a:t>
            </a:r>
            <a:r>
              <a:rPr lang="zh-CN" altLang="en-US" sz="9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9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5720" y="3716020"/>
            <a:ext cx="11991340" cy="7232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285750" indent="-285750" fontAlgn="auto">
              <a:lnSpc>
                <a:spcPts val="2000"/>
              </a:lnSpc>
              <a:buFont typeface="Wingdings" panose="05000000000000000000" charset="0"/>
              <a:buChar char="p"/>
              <a:defRPr/>
            </a:pP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终端回收（后</a:t>
            </a:r>
            <a:r>
              <a:rPr lang="en-US" altLang="zh-CN" sz="1400" b="1" dirty="0"/>
              <a:t> TOP10</a:t>
            </a:r>
            <a:r>
              <a:rPr lang="zh-CN" altLang="zh-CN" sz="1400" b="1" dirty="0"/>
              <a:t>区县</a:t>
            </a: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endParaRPr lang="zh-CN" altLang="en-US" sz="1400" b="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lnSpc>
                <a:spcPts val="2000"/>
              </a:lnSpc>
              <a:defRPr/>
            </a:pPr>
            <a:r>
              <a:rPr lang="en-US" altLang="zh-CN" sz="1200" b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      </a:t>
            </a:r>
            <a:r>
              <a:rPr lang="en-US" sz="1200" b="0" noProof="1">
                <a:solidFill>
                  <a:schemeClr val="tx2"/>
                </a:solidFill>
                <a:sym typeface="+mn-ea"/>
              </a:rPr>
              <a:t>7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月</a:t>
            </a:r>
            <a:r>
              <a:rPr lang="zh-CN" altLang="en-US" sz="1200" b="0" dirty="0">
                <a:solidFill>
                  <a:schemeClr val="tx2"/>
                </a:solidFill>
                <a:sym typeface="+mn-ea"/>
              </a:rPr>
              <a:t>全省终端回收率</a:t>
            </a:r>
            <a:r>
              <a:rPr lang="en-US" altLang="zh-CN" sz="1200" b="0" dirty="0">
                <a:solidFill>
                  <a:schemeClr val="tx2"/>
                </a:solidFill>
                <a:sym typeface="+mn-ea"/>
              </a:rPr>
              <a:t>92.90% </a:t>
            </a:r>
            <a:r>
              <a:rPr lang="zh-CN" altLang="en-US" sz="1200" b="0" dirty="0">
                <a:solidFill>
                  <a:schemeClr val="tx2"/>
                </a:solidFill>
                <a:sym typeface="+mn-ea"/>
              </a:rPr>
              <a:t>，各区县终端回收情况对比，</a:t>
            </a:r>
            <a:r>
              <a:rPr lang="zh-CN" altLang="en-US" sz="1200" b="0" dirty="0">
                <a:solidFill>
                  <a:srgbClr val="FF0000"/>
                </a:solidFill>
              </a:rPr>
              <a:t> 东阳、莲都、洞头</a:t>
            </a:r>
            <a:r>
              <a:rPr lang="zh-CN" altLang="en-US" sz="1200" b="0" dirty="0">
                <a:solidFill>
                  <a:schemeClr val="tx2"/>
                </a:solidFill>
              </a:rPr>
              <a:t>排名靠后</a:t>
            </a:r>
            <a:r>
              <a:rPr lang="zh-CN" altLang="en-US" sz="1200" b="0" dirty="0">
                <a:solidFill>
                  <a:schemeClr val="tx2"/>
                </a:solidFill>
                <a:sym typeface="+mn-ea"/>
              </a:rPr>
              <a:t>。</a:t>
            </a:r>
            <a:endParaRPr lang="zh-CN" altLang="en-US" sz="1200" b="0" noProof="1">
              <a:solidFill>
                <a:schemeClr val="tx2"/>
              </a:solidFill>
              <a:sym typeface="+mn-ea"/>
            </a:endParaRPr>
          </a:p>
        </p:txBody>
      </p:sp>
      <p:sp>
        <p:nvSpPr>
          <p:cNvPr id="10" name="Title 6"/>
          <p:cNvSpPr txBox="1"/>
          <p:nvPr>
            <p:custDataLst>
              <p:tags r:id="rId3"/>
            </p:custDataLst>
          </p:nvPr>
        </p:nvSpPr>
        <p:spPr>
          <a:xfrm>
            <a:off x="161861" y="135047"/>
            <a:ext cx="209042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终端回收情况</a:t>
            </a:r>
            <a:endParaRPr lang="zh-CN" altLang="en-US" sz="2400" b="1" spc="159" dirty="0">
              <a:ln w="3175">
                <a:noFill/>
                <a:prstDash val="dash"/>
              </a:ln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264160" y="1410970"/>
          <a:ext cx="11639550" cy="2185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264160" y="4365625"/>
          <a:ext cx="11640185" cy="1944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/>
        </p:nvSpPr>
        <p:spPr>
          <a:xfrm>
            <a:off x="120015" y="2696210"/>
            <a:ext cx="11991340" cy="5689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285750" indent="-285750" fontAlgn="auto">
              <a:lnSpc>
                <a:spcPts val="2000"/>
              </a:lnSpc>
              <a:buFont typeface="Wingdings" panose="05000000000000000000" charset="0"/>
              <a:buChar char="p"/>
              <a:defRPr/>
            </a:pP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终端回收情况（</a:t>
            </a:r>
            <a:r>
              <a:rPr lang="en-US" altLang="zh-CN" sz="1400" b="1" dirty="0"/>
              <a:t> </a:t>
            </a:r>
            <a:r>
              <a:rPr lang="zh-CN" altLang="en-US" sz="1400" b="1" dirty="0"/>
              <a:t>按地市和区县后</a:t>
            </a:r>
            <a:r>
              <a:rPr lang="en-US" altLang="zh-CN" sz="1400" b="1" dirty="0"/>
              <a:t>TOP10</a:t>
            </a:r>
            <a:r>
              <a:rPr lang="zh-CN" altLang="en-US" sz="1400" b="1" dirty="0"/>
              <a:t>区分</a:t>
            </a: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endParaRPr lang="zh-CN" altLang="en-US" sz="1200" b="0" noProof="1">
              <a:solidFill>
                <a:schemeClr val="tx2"/>
              </a:solidFill>
              <a:sym typeface="+mn-ea"/>
            </a:endParaRPr>
          </a:p>
        </p:txBody>
      </p:sp>
      <p:sp>
        <p:nvSpPr>
          <p:cNvPr id="10" name="Title 6"/>
          <p:cNvSpPr txBox="1"/>
          <p:nvPr>
            <p:custDataLst>
              <p:tags r:id="rId4"/>
            </p:custDataLst>
          </p:nvPr>
        </p:nvSpPr>
        <p:spPr>
          <a:xfrm>
            <a:off x="161861" y="135047"/>
            <a:ext cx="2090420" cy="44132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pc="159" dirty="0">
                <a:ln w="3175">
                  <a:noFill/>
                  <a:prstDash val="dash"/>
                </a:ln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终端回收情况</a:t>
            </a:r>
            <a:endParaRPr lang="zh-CN" altLang="en-US" sz="2400" b="1" spc="159" dirty="0">
              <a:ln w="3175">
                <a:noFill/>
                <a:prstDash val="dash"/>
              </a:ln>
              <a:solidFill>
                <a:schemeClr val="bg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120015" y="683895"/>
            <a:ext cx="11991340" cy="7232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285750" indent="-285750" fontAlgn="auto">
              <a:lnSpc>
                <a:spcPts val="2000"/>
              </a:lnSpc>
              <a:buFont typeface="Wingdings" panose="05000000000000000000" charset="0"/>
              <a:buChar char="p"/>
              <a:defRPr/>
            </a:pP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终端回收情况（按业务类型</a:t>
            </a:r>
            <a:r>
              <a:rPr lang="zh-CN" altLang="en-US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区分）</a:t>
            </a:r>
            <a:endParaRPr lang="zh-CN" altLang="en-US" sz="1400" b="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lnSpc>
                <a:spcPts val="2000"/>
              </a:lnSpc>
              <a:defRPr/>
            </a:pPr>
            <a:r>
              <a:rPr lang="en-US" altLang="zh-CN" sz="1200" b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     </a:t>
            </a:r>
            <a:r>
              <a:rPr lang="zh-CN" altLang="en-US" sz="1200" b="0" noProof="1">
                <a:solidFill>
                  <a:schemeClr val="tx2"/>
                </a:solidFill>
                <a:sym typeface="+mn-ea"/>
              </a:rPr>
              <a:t> </a:t>
            </a:r>
            <a:r>
              <a:rPr lang="en-US" altLang="zh-CN" sz="1200" b="0" noProof="1">
                <a:solidFill>
                  <a:schemeClr val="tx2"/>
                </a:solidFill>
                <a:sym typeface="+mn-ea"/>
              </a:rPr>
              <a:t>7</a:t>
            </a:r>
            <a:r>
              <a:rPr lang="zh-CN" altLang="en-US" sz="1200" b="0" dirty="0">
                <a:solidFill>
                  <a:schemeClr val="tx2"/>
                </a:solidFill>
                <a:sym typeface="+mn-ea"/>
              </a:rPr>
              <a:t>月全省终端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拆回设备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16275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台（设备类型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TOP3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为：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ONU 6572 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台；</a:t>
            </a:r>
            <a:r>
              <a:rPr lang="en-US" sz="1200" b="0">
                <a:solidFill>
                  <a:schemeClr val="tx2"/>
                </a:solidFill>
                <a:sym typeface="+mn-ea"/>
              </a:rPr>
              <a:t>FTTO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 3114 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台；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摄像头</a:t>
            </a:r>
            <a:r>
              <a:rPr lang="en-US" altLang="zh-CN" sz="1200" b="0">
                <a:solidFill>
                  <a:schemeClr val="tx2"/>
                </a:solidFill>
                <a:sym typeface="+mn-ea"/>
              </a:rPr>
              <a:t> 2099 </a:t>
            </a:r>
            <a:r>
              <a:rPr lang="zh-CN" altLang="en-US" sz="1200" b="0">
                <a:solidFill>
                  <a:schemeClr val="tx2"/>
                </a:solidFill>
                <a:sym typeface="+mn-ea"/>
              </a:rPr>
              <a:t>台）</a:t>
            </a:r>
            <a:r>
              <a:rPr lang="zh-CN" altLang="en-US" sz="1200" b="0" dirty="0">
                <a:solidFill>
                  <a:schemeClr val="tx2"/>
                </a:solidFill>
                <a:sym typeface="+mn-ea"/>
              </a:rPr>
              <a:t>。</a:t>
            </a:r>
            <a:endParaRPr lang="zh-CN" altLang="en-US" sz="1200" b="0" noProof="1">
              <a:solidFill>
                <a:schemeClr val="tx2"/>
              </a:solidFill>
              <a:sym typeface="+mn-ea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220345" y="1269365"/>
          <a:ext cx="1161732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220345" y="3069590"/>
          <a:ext cx="11617325" cy="167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220345" y="4797425"/>
          <a:ext cx="11616055" cy="1716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317160435"/>
  <p:tag name="MH_LIBRARY" val="CONTENTS"/>
  <p:tag name="MH_TYPE" val="NUMBER"/>
  <p:tag name="ID" val="547103"/>
  <p:tag name="MH_ORDER" val="2"/>
  <p:tag name="KSO_WM_BEAUTIFY_FLAG" val=""/>
</p:tagLst>
</file>

<file path=ppt/tags/tag2.xml><?xml version="1.0" encoding="utf-8"?>
<p:tagLst xmlns:p="http://schemas.openxmlformats.org/presentationml/2006/main">
  <p:tag name="MH" val="20180317160435"/>
  <p:tag name="MH_LIBRARY" val="CONTENTS"/>
  <p:tag name="MH_TYPE" val="OTHERS"/>
  <p:tag name="ID" val="547103"/>
  <p:tag name="KSO_WM_BEAUTIFY_FLAG" val=""/>
</p:tagLst>
</file>

<file path=ppt/tags/tag3.xml><?xml version="1.0" encoding="utf-8"?>
<p:tagLst xmlns:p="http://schemas.openxmlformats.org/presentationml/2006/main">
  <p:tag name="MH" val="20180317160435"/>
  <p:tag name="MH_LIBRARY" val="CONTENTS"/>
  <p:tag name="MH_TYPE" val="NUMBER"/>
  <p:tag name="ID" val="547103"/>
  <p:tag name="MH_ORDER" val="2"/>
</p:tagLst>
</file>

<file path=ppt/tags/tag4.xml><?xml version="1.0" encoding="utf-8"?>
<p:tagLst xmlns:p="http://schemas.openxmlformats.org/presentationml/2006/main">
  <p:tag name="MH" val="20180317160435"/>
  <p:tag name="MH_LIBRARY" val="CONTENTS"/>
  <p:tag name="MH_TYPE" val="ENTRY"/>
  <p:tag name="ID" val="547103"/>
  <p:tag name="MH_ORDER" val="2"/>
</p:tagLst>
</file>

<file path=ppt/tags/tag5.xml><?xml version="1.0" encoding="utf-8"?>
<p:tagLst xmlns:p="http://schemas.openxmlformats.org/presentationml/2006/main">
  <p:tag name="MH" val="20180317160435"/>
  <p:tag name="MH_LIBRARY" val="CONTENTS"/>
  <p:tag name="MH_TYPE" val="OTHERS"/>
  <p:tag name="ID" val="547103"/>
</p:tagLst>
</file>

<file path=ppt/tags/tag6.xml><?xml version="1.0" encoding="utf-8"?>
<p:tagLst xmlns:p="http://schemas.openxmlformats.org/presentationml/2006/main">
  <p:tag name="MH" val="20180317160435"/>
  <p:tag name="MH_LIBRARY" val="CONTENTS"/>
  <p:tag name="MH_TYPE" val="ENTRY"/>
  <p:tag name="ID" val="547103"/>
  <p:tag name="MH_ORDER" val="2"/>
</p:tagLst>
</file>

<file path=ppt/tags/tag7.xml><?xml version="1.0" encoding="utf-8"?>
<p:tagLst xmlns:p="http://schemas.openxmlformats.org/presentationml/2006/main">
  <p:tag name="MH" val="20180317160435"/>
  <p:tag name="MH_LIBRARY" val="CONTENTS"/>
  <p:tag name="MH_TYPE" val="OTHERS"/>
  <p:tag name="ID" val="547103"/>
</p:tagLst>
</file>

<file path=ppt/tags/tag8.xml><?xml version="1.0" encoding="utf-8"?>
<p:tagLst xmlns:p="http://schemas.openxmlformats.org/presentationml/2006/main">
  <p:tag name="MH" val="20180317160435"/>
  <p:tag name="MH_LIBRARY" val="CONTENTS"/>
  <p:tag name="MH_TYPE" val="ENTRY"/>
  <p:tag name="ID" val="547103"/>
  <p:tag name="MH_ORDER" val="2"/>
</p:tagLst>
</file>

<file path=ppt/tags/tag9.xml><?xml version="1.0" encoding="utf-8"?>
<p:tagLst xmlns:p="http://schemas.openxmlformats.org/presentationml/2006/main">
  <p:tag name="MH" val="20180317160435"/>
  <p:tag name="MH_LIBRARY" val="CONTENTS"/>
  <p:tag name="MH_TYPE" val="NUMBER"/>
  <p:tag name="ID" val="547103"/>
  <p:tag name="MH_ORDER" val="2"/>
</p:tagLst>
</file>

<file path=ppt/tags/tag10.xml><?xml version="1.0" encoding="utf-8"?>
<p:tagLst xmlns:p="http://schemas.openxmlformats.org/presentationml/2006/main">
  <p:tag name="MH" val="20180317160435"/>
  <p:tag name="MH_LIBRARY" val="CONTENTS"/>
  <p:tag name="MH_TYPE" val="NUMBER"/>
  <p:tag name="ID" val="547103"/>
  <p:tag name="MH_ORDER" val="2"/>
</p:tagLst>
</file>

<file path=ppt/tags/tag11.xml><?xml version="1.0" encoding="utf-8"?>
<p:tagLst xmlns:p="http://schemas.openxmlformats.org/presentationml/2006/main">
  <p:tag name="MH" val="20180317160435"/>
  <p:tag name="MH_LIBRARY" val="CONTENTS"/>
  <p:tag name="MH_TYPE" val="OTHERS"/>
  <p:tag name="ID" val="547103"/>
</p:tagLst>
</file>

<file path=ppt/tags/tag12.xml><?xml version="1.0" encoding="utf-8"?>
<p:tagLst xmlns:p="http://schemas.openxmlformats.org/presentationml/2006/main">
  <p:tag name="MH" val="20180317160435"/>
  <p:tag name="MH_LIBRARY" val="CONTENTS"/>
  <p:tag name="MH_TYPE" val="ENTRY"/>
  <p:tag name="ID" val="547103"/>
  <p:tag name="MH_ORDER" val="2"/>
</p:tagLst>
</file>

<file path=ppt/tags/tag13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0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PRESET_TEXT" val="单击此处输入正文标题内容"/>
  <p:tag name="KSO_WM_UNIT_TEXTBOXSTYLE_GUID" val="{b93a5ccc-a675-41bb-bece-6365e07bfe25}"/>
  <p:tag name="KSO_WM_UNIT_TEXTBOXSTYLE_TEMPLATEID" val="3131033"/>
  <p:tag name="KSO_WM_UNIT_TEXTBOXSTYLE_TYPE" val="3"/>
</p:tagLst>
</file>

<file path=ppt/tags/tag1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0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PRESET_TEXT" val="单击此处输入正文标题内容"/>
  <p:tag name="KSO_WM_UNIT_TEXTBOXSTYLE_GUID" val="{b93a5ccc-a675-41bb-bece-6365e07bfe25}"/>
  <p:tag name="KSO_WM_UNIT_TEXTBOXSTYLE_TEMPLATEID" val="3131033"/>
  <p:tag name="KSO_WM_UNIT_TEXTBOXSTYLE_TYPE" val="3"/>
</p:tagLst>
</file>

<file path=ppt/tags/tag15.xml><?xml version="1.0" encoding="utf-8"?>
<p:tagLst xmlns:p="http://schemas.openxmlformats.org/presentationml/2006/main">
  <p:tag name="KSO_WPP_MARK_KEY" val="107dad50-41b5-4314-931e-bdfcc0a81a07"/>
  <p:tag name="COMMONDATA" val="eyJoZGlkIjoiMDExOWRjNmFkOGYwYjU2NGFkOWY4NGVkYjUwNDY0OW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ztqbydx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WPS 演示</Application>
  <PresentationFormat>宽屏</PresentationFormat>
  <Paragraphs>37</Paragraphs>
  <Slides>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Wingdings</vt:lpstr>
      <vt:lpstr>黑体</vt:lpstr>
      <vt:lpstr>Times New Roman</vt:lpstr>
      <vt:lpstr>方正姚体</vt:lpstr>
      <vt:lpstr>Segoe UI</vt:lpstr>
      <vt:lpstr>Arial Unicode MS</vt:lpstr>
      <vt:lpstr>Office 主题</vt:lpstr>
      <vt:lpstr>目   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政企信息化支撑情况通报</dc:title>
  <dc:creator>李娜</dc:creator>
  <cp:lastModifiedBy>WPS_1656053924</cp:lastModifiedBy>
  <cp:revision>10541</cp:revision>
  <cp:lastPrinted>2017-06-23T00:29:00Z</cp:lastPrinted>
  <dcterms:created xsi:type="dcterms:W3CDTF">2018-12-14T08:20:00Z</dcterms:created>
  <dcterms:modified xsi:type="dcterms:W3CDTF">2026-09-02T06:00:54Z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13</vt:lpwstr>
  </property>
  <property fmtid="{D5CDD505-2E9C-101B-9397-08002B2CF9AE}" pid="3" name="KSOProductBuildVer">
    <vt:lpwstr>2052-12.1.0.28043</vt:lpwstr>
  </property>
  <property fmtid="{D5CDD505-2E9C-101B-9397-08002B2CF9AE}" pid="4" name="ICV">
    <vt:lpwstr>40FDB6F81E494AF9B99E8755F591B81B_13</vt:lpwstr>
  </property>
</Properties>
</file>